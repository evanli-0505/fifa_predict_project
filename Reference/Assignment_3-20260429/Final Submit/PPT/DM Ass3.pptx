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57" r:id="rId3"/>
    <p:sldId id="258" r:id="rId4"/>
    <p:sldId id="256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15"/>
    <p:restoredTop sz="94540"/>
  </p:normalViewPr>
  <p:slideViewPr>
    <p:cSldViewPr snapToGrid="0">
      <p:cViewPr varScale="1">
        <p:scale>
          <a:sx n="100" d="100"/>
          <a:sy n="100" d="100"/>
        </p:scale>
        <p:origin x="1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44DCD-14ED-C447-8F1D-E30BF026F23E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A208E-F847-F645-95DF-754861AC3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5037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AE30F-8F9C-4706-07DC-308C91F07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8F3608-5A7A-F116-5395-B8BC4AE87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3D24A4-10EB-E1D9-9FFF-45E34ACA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FB7364-B3FF-7B35-0A84-12F320B11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AEDCA5-47F6-ABF4-F7F9-CFBC6BDA6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848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21967-5F41-0E6E-E54F-874B78822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247D2-5616-B2C4-CFA8-6402964FB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7FEF6E-D16A-4E57-1CFF-6617DF456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AC30BE-A6B8-CE84-2304-C348EF1D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4B8715-F074-17BF-C961-8AD31E4D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1149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76221-E797-049A-1E14-F311C9469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95E2C7-2FEB-2C1C-6790-A36489196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18A885-FC4A-45CA-65F7-2CA158CC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A11FFE-7A53-8885-E1F7-E4B225D8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9E188E-561A-B1DD-6380-F2ECF62C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52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37C1A-1724-D2AA-EED7-D8E24430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FFF819-79EB-42DE-4569-1C76F1441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6BF44C-519A-47D0-2455-CE0A81B99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5891D2-7E8A-7211-2A8F-6826242D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22A4F7-0B22-A884-5BDF-75AC2839F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332E04-7424-0E8F-AC24-B49D61C3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648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56608-61CE-3774-82A4-647D9A93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9E6FAF-7F00-79C2-FF27-AB7C5FE34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1BE34-BDA8-74C8-03CF-1677C78CC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7C1FE0-1E8D-8DE9-3269-F003144A3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0FC5CD-4A08-3CB0-F6E5-12D9EAE58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2A01E19-DF17-256D-BB47-E4547F8A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E7760C-E2B8-F1DB-9E9E-3BF8B3FC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88FD4E-3575-208D-366C-BF929E18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1556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F0FCC-CE88-AA18-BEC2-2E968B9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BDF189-8AD3-6675-9DE4-01288CE43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51D671-B70E-BDFF-68CA-15452021A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D56C83-BDB8-E3E8-B911-F1E7F510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3416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D021FF-4060-03BE-B3AB-F0E8A8E5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B191B7-442F-71AD-F738-94ECF186F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19C2E7-1934-2067-C1C2-73758A1B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508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72411-B088-F745-657D-8CEBAC00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C49839-EF05-B95E-32D9-09BD70A0B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FB1D0C-D642-D7CE-1EB8-BC3146623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E17757-DCD1-67F0-317D-D9BD797C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053753-9134-A011-EB5E-696336858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31B77F-B721-7556-1425-A3A5E12F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6622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74703-7AD2-D717-5341-CDFD87FB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6CC01E-8C9E-4182-9D35-1B790DF65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D469ED-9252-2EA8-07A9-735897E89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CEA349-0395-542F-3CEB-269C63B99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F65044-2F4C-107B-F135-0E9BCEA1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2D9670-D496-380E-2FC3-1F0DC43FB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158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3AE11-2B6C-7449-4BFA-0557A2E0D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98C2B4-0ACA-70CE-A5D6-B2E02383A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FB61AF-A03E-A379-5190-55FED2843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584F9-FFF0-EF07-EF09-33721A2B7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607DC6-8F2C-445E-8532-60A34A89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9156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02EF90-66AA-5D42-1C6E-89F71DDC0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FAC3A0-2DE3-8838-0AE5-38F303F03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85F1CE-E83A-0C7A-3789-29662D10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D2FCCE-68B8-43BE-C0A5-4F294A7D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98E98B-F053-B4E1-7264-B66B0331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2748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308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B78107-DE8C-CD64-A8BA-9003FEB0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8DCFA-F1F6-27DF-6B78-74634BD29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F5F906-7B84-EC36-7A95-94E47E568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1AA50-22EE-2B46-80FC-19911B86109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FCD8A1-984C-16BE-3435-BEC23A0B7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4B62FC-CB69-9099-0C02-1A02BAB54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63406-A0ED-DF49-9C7D-5B50D0A4F0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28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urse">
            <a:extLst>
              <a:ext uri="{FF2B5EF4-FFF2-40B4-BE49-F238E27FC236}">
                <a16:creationId xmlns:a16="http://schemas.microsoft.com/office/drawing/2014/main" id="{BEA2DEDF-4372-4C5A-A3C7-89DAB6DC399E}"/>
              </a:ext>
            </a:extLst>
          </p:cNvPr>
          <p:cNvSpPr>
            <a:spLocks noGrp="1"/>
          </p:cNvSpPr>
          <p:nvPr/>
        </p:nvSpPr>
        <p:spPr>
          <a:xfrm>
            <a:off x="781050" y="7239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A7782E"/>
                </a:solidFill>
              </a:defRPr>
            </a:pPr>
            <a:r>
              <a:rPr sz="1350" b="1">
                <a:solidFill>
                  <a:srgbClr val="A7782E"/>
                </a:solidFill>
              </a:rPr>
              <a:t>ITS61504 DATA MINING</a:t>
            </a:r>
          </a:p>
        </p:txBody>
      </p:sp>
      <p:sp>
        <p:nvSpPr>
          <p:cNvPr id="3" name="assignment-title">
            <a:extLst>
              <a:ext uri="{FF2B5EF4-FFF2-40B4-BE49-F238E27FC236}">
                <a16:creationId xmlns:a16="http://schemas.microsoft.com/office/drawing/2014/main" id="{7E8D1C09-E37D-41FA-88E6-CCD4C59D110E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6191250" cy="9905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500" b="1">
                <a:solidFill>
                  <a:srgbClr val="17231D"/>
                </a:solidFill>
              </a:defRPr>
            </a:pPr>
            <a:r>
              <a:rPr sz="3600" b="1">
                <a:solidFill>
                  <a:srgbClr val="17231D"/>
                </a:solidFill>
              </a:rPr>
              <a:t>Group Assignment 3</a:t>
            </a:r>
          </a:p>
        </p:txBody>
      </p:sp>
      <p:sp>
        <p:nvSpPr>
          <p:cNvPr id="4" name="project-topic">
            <a:extLst>
              <a:ext uri="{FF2B5EF4-FFF2-40B4-BE49-F238E27FC236}">
                <a16:creationId xmlns:a16="http://schemas.microsoft.com/office/drawing/2014/main" id="{566F00D8-FBF7-4731-AB2F-34536AC5CEEF}"/>
              </a:ext>
            </a:extLst>
          </p:cNvPr>
          <p:cNvSpPr>
            <a:spLocks noGrp="1"/>
          </p:cNvSpPr>
          <p:nvPr/>
        </p:nvSpPr>
        <p:spPr>
          <a:xfrm>
            <a:off x="719504" y="3028947"/>
            <a:ext cx="5376496" cy="11430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F5138"/>
                </a:solidFill>
              </a:defRPr>
            </a:pPr>
            <a:r>
              <a:rPr sz="2400" b="1">
                <a:solidFill>
                  <a:srgbClr val="1F5138"/>
                </a:solidFill>
              </a:rPr>
              <a:t>Machine Learning-Based Prediction of FIFA World Cup Match Results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F33DA421-A7F2-4C67-BBA7-3295D5D17FBB}"/>
              </a:ext>
            </a:extLst>
          </p:cNvPr>
          <p:cNvSpPr>
            <a:spLocks noGrp="1"/>
          </p:cNvSpPr>
          <p:nvPr/>
        </p:nvSpPr>
        <p:spPr>
          <a:xfrm>
            <a:off x="781050" y="4200524"/>
            <a:ext cx="1143000" cy="57150"/>
          </a:xfrm>
          <a:prstGeom prst="rect">
            <a:avLst/>
          </a:prstGeom>
          <a:solidFill>
            <a:srgbClr val="1F513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members-label">
            <a:extLst>
              <a:ext uri="{FF2B5EF4-FFF2-40B4-BE49-F238E27FC236}">
                <a16:creationId xmlns:a16="http://schemas.microsoft.com/office/drawing/2014/main" id="{BFA08FEA-797E-470B-85C8-E9BA224DB555}"/>
              </a:ext>
            </a:extLst>
          </p:cNvPr>
          <p:cNvSpPr>
            <a:spLocks noGrp="1"/>
          </p:cNvSpPr>
          <p:nvPr/>
        </p:nvSpPr>
        <p:spPr>
          <a:xfrm>
            <a:off x="781050" y="4610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5C6D62"/>
                </a:solidFill>
              </a:defRPr>
            </a:pPr>
            <a:r>
              <a:rPr sz="1125" b="1">
                <a:solidFill>
                  <a:srgbClr val="5C6D62"/>
                </a:solidFill>
              </a:rPr>
              <a:t>GROUP MEMBERS</a:t>
            </a:r>
          </a:p>
        </p:txBody>
      </p:sp>
      <p:sp>
        <p:nvSpPr>
          <p:cNvPr id="7" name="member-1">
            <a:extLst>
              <a:ext uri="{FF2B5EF4-FFF2-40B4-BE49-F238E27FC236}">
                <a16:creationId xmlns:a16="http://schemas.microsoft.com/office/drawing/2014/main" id="{AA2147E5-5B2D-4D0E-A7E6-35F6211DFC6C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1F5138"/>
                </a:solidFill>
              </a:defRPr>
            </a:pPr>
            <a:r>
              <a:rPr sz="1800" b="1" dirty="0">
                <a:solidFill>
                  <a:srgbClr val="1F5138"/>
                </a:solidFill>
              </a:rPr>
              <a:t>Li Zhe    </a:t>
            </a:r>
            <a:r>
              <a:rPr lang="zh-CN" altLang="en-US" sz="1800" b="1" dirty="0">
                <a:solidFill>
                  <a:srgbClr val="1F5138"/>
                </a:solidFill>
              </a:rPr>
              <a:t>       </a:t>
            </a:r>
            <a:endParaRPr sz="1800" b="1" dirty="0">
              <a:solidFill>
                <a:srgbClr val="1F5138"/>
              </a:solidFill>
            </a:endParaRPr>
          </a:p>
        </p:txBody>
      </p:sp>
      <p:sp>
        <p:nvSpPr>
          <p:cNvPr id="8" name="member-1-id">
            <a:extLst>
              <a:ext uri="{FF2B5EF4-FFF2-40B4-BE49-F238E27FC236}">
                <a16:creationId xmlns:a16="http://schemas.microsoft.com/office/drawing/2014/main" id="{250A7BC5-4580-4A0D-8A57-9C9E55588CCB}"/>
              </a:ext>
            </a:extLst>
          </p:cNvPr>
          <p:cNvSpPr>
            <a:spLocks noGrp="1"/>
          </p:cNvSpPr>
          <p:nvPr/>
        </p:nvSpPr>
        <p:spPr>
          <a:xfrm>
            <a:off x="3371769" y="49720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3D4841"/>
                </a:solidFill>
              </a:defRPr>
            </a:pPr>
            <a:r>
              <a:rPr sz="1650" dirty="0">
                <a:solidFill>
                  <a:srgbClr val="3D4841"/>
                </a:solidFill>
              </a:rPr>
              <a:t>Bachelor of Computer Science</a:t>
            </a:r>
          </a:p>
        </p:txBody>
      </p:sp>
      <p:sp>
        <p:nvSpPr>
          <p:cNvPr id="9" name="member-2">
            <a:extLst>
              <a:ext uri="{FF2B5EF4-FFF2-40B4-BE49-F238E27FC236}">
                <a16:creationId xmlns:a16="http://schemas.microsoft.com/office/drawing/2014/main" id="{358B7F6A-7270-4277-AF3C-A9406305D72A}"/>
              </a:ext>
            </a:extLst>
          </p:cNvPr>
          <p:cNvSpPr>
            <a:spLocks noGrp="1"/>
          </p:cNvSpPr>
          <p:nvPr/>
        </p:nvSpPr>
        <p:spPr>
          <a:xfrm>
            <a:off x="781050" y="549592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1F5138"/>
                </a:solidFill>
              </a:defRPr>
            </a:pPr>
            <a:r>
              <a:rPr sz="1800" b="1" dirty="0">
                <a:solidFill>
                  <a:srgbClr val="1F5138"/>
                </a:solidFill>
              </a:rPr>
              <a:t>Gu </a:t>
            </a:r>
            <a:r>
              <a:rPr sz="1800" b="1" dirty="0" err="1">
                <a:solidFill>
                  <a:srgbClr val="1F5138"/>
                </a:solidFill>
              </a:rPr>
              <a:t>Sijia</a:t>
            </a:r>
            <a:r>
              <a:rPr sz="1800" b="1" dirty="0">
                <a:solidFill>
                  <a:srgbClr val="1F5138"/>
                </a:solidFill>
              </a:rPr>
              <a:t>    </a:t>
            </a:r>
            <a:r>
              <a:rPr lang="zh-CN" altLang="en-US" sz="1800" b="1" dirty="0">
                <a:solidFill>
                  <a:srgbClr val="1F5138"/>
                </a:solidFill>
              </a:rPr>
              <a:t>    </a:t>
            </a:r>
            <a:endParaRPr sz="1800" b="1" dirty="0">
              <a:solidFill>
                <a:srgbClr val="1F5138"/>
              </a:solidFill>
            </a:endParaRPr>
          </a:p>
        </p:txBody>
      </p:sp>
      <p:sp>
        <p:nvSpPr>
          <p:cNvPr id="10" name="member-2-id">
            <a:extLst>
              <a:ext uri="{FF2B5EF4-FFF2-40B4-BE49-F238E27FC236}">
                <a16:creationId xmlns:a16="http://schemas.microsoft.com/office/drawing/2014/main" id="{AE4686DF-978E-43DE-9BEE-0AC13857BF83}"/>
              </a:ext>
            </a:extLst>
          </p:cNvPr>
          <p:cNvSpPr>
            <a:spLocks noGrp="1"/>
          </p:cNvSpPr>
          <p:nvPr/>
        </p:nvSpPr>
        <p:spPr>
          <a:xfrm>
            <a:off x="3371769" y="550544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3D4841"/>
                </a:solidFill>
              </a:defRPr>
            </a:pPr>
            <a:r>
              <a:rPr sz="1650" dirty="0">
                <a:solidFill>
                  <a:srgbClr val="3D4841"/>
                </a:solidFill>
              </a:rPr>
              <a:t>Bachelor of Business</a:t>
            </a:r>
          </a:p>
        </p:txBody>
      </p:sp>
      <p:sp>
        <p:nvSpPr>
          <p:cNvPr id="11" name="member-3">
            <a:extLst>
              <a:ext uri="{FF2B5EF4-FFF2-40B4-BE49-F238E27FC236}">
                <a16:creationId xmlns:a16="http://schemas.microsoft.com/office/drawing/2014/main" id="{39980F60-A95C-4F7E-9A3A-A0F286506E21}"/>
              </a:ext>
            </a:extLst>
          </p:cNvPr>
          <p:cNvSpPr>
            <a:spLocks noGrp="1"/>
          </p:cNvSpPr>
          <p:nvPr/>
        </p:nvSpPr>
        <p:spPr>
          <a:xfrm>
            <a:off x="781050" y="60198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1F5138"/>
                </a:solidFill>
              </a:defRPr>
            </a:pPr>
            <a:r>
              <a:rPr sz="1800" b="1" dirty="0">
                <a:solidFill>
                  <a:srgbClr val="1F5138"/>
                </a:solidFill>
              </a:rPr>
              <a:t>Liu Yifan    </a:t>
            </a:r>
            <a:r>
              <a:rPr lang="zh-CN" altLang="en-US" sz="1800" b="1" dirty="0">
                <a:solidFill>
                  <a:srgbClr val="1F5138"/>
                </a:solidFill>
              </a:rPr>
              <a:t>  </a:t>
            </a:r>
            <a:endParaRPr sz="1800" b="1" dirty="0">
              <a:solidFill>
                <a:srgbClr val="1F5138"/>
              </a:solidFill>
            </a:endParaRPr>
          </a:p>
        </p:txBody>
      </p:sp>
      <p:sp>
        <p:nvSpPr>
          <p:cNvPr id="12" name="member-3-id">
            <a:extLst>
              <a:ext uri="{FF2B5EF4-FFF2-40B4-BE49-F238E27FC236}">
                <a16:creationId xmlns:a16="http://schemas.microsoft.com/office/drawing/2014/main" id="{BBC0AA47-3266-4945-8664-A69330CB641D}"/>
              </a:ext>
            </a:extLst>
          </p:cNvPr>
          <p:cNvSpPr>
            <a:spLocks noGrp="1"/>
          </p:cNvSpPr>
          <p:nvPr/>
        </p:nvSpPr>
        <p:spPr>
          <a:xfrm>
            <a:off x="3371769" y="60198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3D4841"/>
                </a:solidFill>
              </a:defRPr>
            </a:pPr>
            <a:r>
              <a:rPr sz="1650" dirty="0">
                <a:solidFill>
                  <a:srgbClr val="3D4841"/>
                </a:solidFill>
              </a:rPr>
              <a:t>Bachelor of Computer Science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A55241-6B03-8DD2-938A-3A7B702580D5}"/>
              </a:ext>
            </a:extLst>
          </p:cNvPr>
          <p:cNvSpPr txBox="1"/>
          <p:nvPr/>
        </p:nvSpPr>
        <p:spPr>
          <a:xfrm>
            <a:off x="2019300" y="5495925"/>
            <a:ext cx="6201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1F5138"/>
                </a:solidFill>
              </a:rPr>
              <a:t>0365826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3C715F-32B1-8090-8993-6339D7CB47CD}"/>
              </a:ext>
            </a:extLst>
          </p:cNvPr>
          <p:cNvSpPr txBox="1"/>
          <p:nvPr/>
        </p:nvSpPr>
        <p:spPr>
          <a:xfrm>
            <a:off x="2019300" y="4956822"/>
            <a:ext cx="6201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1F5138"/>
                </a:solidFill>
              </a:rPr>
              <a:t>0370716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C5E38FD-C82E-5C35-0332-3DE7EF489FCF}"/>
              </a:ext>
            </a:extLst>
          </p:cNvPr>
          <p:cNvSpPr txBox="1"/>
          <p:nvPr/>
        </p:nvSpPr>
        <p:spPr>
          <a:xfrm>
            <a:off x="2019300" y="6029320"/>
            <a:ext cx="6201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1F5138"/>
                </a:solidFill>
              </a:rPr>
              <a:t>0374114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4267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q1-kicker">
            <a:extLst>
              <a:ext uri="{FF2B5EF4-FFF2-40B4-BE49-F238E27FC236}">
                <a16:creationId xmlns:a16="http://schemas.microsoft.com/office/drawing/2014/main" id="{75B34EA1-C269-44D4-8D70-DF5772556C1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A7782E"/>
                </a:solidFill>
              </a:defRPr>
            </a:pPr>
            <a:r>
              <a:rPr sz="1200" b="1">
                <a:solidFill>
                  <a:srgbClr val="A7782E"/>
                </a:solidFill>
              </a:rPr>
              <a:t>Q1  |  INTRODUCTION &amp; PURPOSE</a:t>
            </a:r>
          </a:p>
        </p:txBody>
      </p:sp>
      <p:sp>
        <p:nvSpPr>
          <p:cNvPr id="3" name="q1-title">
            <a:extLst>
              <a:ext uri="{FF2B5EF4-FFF2-40B4-BE49-F238E27FC236}">
                <a16:creationId xmlns:a16="http://schemas.microsoft.com/office/drawing/2014/main" id="{C6086A9A-925D-4501-B153-E1BE6385B8AF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7810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31D"/>
                </a:solidFill>
              </a:defRPr>
            </a:pPr>
            <a:r>
              <a:rPr sz="3150" b="1">
                <a:solidFill>
                  <a:srgbClr val="17231D"/>
                </a:solidFill>
              </a:rPr>
              <a:t>Turning football history into</a:t>
            </a:r>
          </a:p>
          <a:p>
            <a:pPr>
              <a:defRPr sz="3150" b="1">
                <a:solidFill>
                  <a:srgbClr val="17231D"/>
                </a:solidFill>
              </a:defRPr>
            </a:pPr>
            <a:r>
              <a:rPr sz="3150" b="1">
                <a:solidFill>
                  <a:srgbClr val="17231D"/>
                </a:solidFill>
              </a:rPr>
              <a:t>World Cup outcome predictions</a:t>
            </a:r>
          </a:p>
        </p:txBody>
      </p:sp>
      <p:sp>
        <p:nvSpPr>
          <p:cNvPr id="4" name="q1-rule">
            <a:extLst>
              <a:ext uri="{FF2B5EF4-FFF2-40B4-BE49-F238E27FC236}">
                <a16:creationId xmlns:a16="http://schemas.microsoft.com/office/drawing/2014/main" id="{588406BD-EB4C-45DC-A82D-88E098FCAF02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990600" cy="47625"/>
          </a:xfrm>
          <a:prstGeom prst="rect">
            <a:avLst/>
          </a:prstGeom>
          <a:solidFill>
            <a:srgbClr val="1F51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arget-label">
            <a:extLst>
              <a:ext uri="{FF2B5EF4-FFF2-40B4-BE49-F238E27FC236}">
                <a16:creationId xmlns:a16="http://schemas.microsoft.com/office/drawing/2014/main" id="{F2396D5E-1FD7-4B8C-9E6A-B7FD88F044B2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C6D62"/>
                </a:solidFill>
              </a:defRPr>
            </a:pPr>
            <a:r>
              <a:rPr sz="1125" b="1">
                <a:solidFill>
                  <a:srgbClr val="5C6D62"/>
                </a:solidFill>
              </a:rPr>
              <a:t>PREDICTION TARGET</a:t>
            </a:r>
          </a:p>
        </p:txBody>
      </p:sp>
      <p:sp>
        <p:nvSpPr>
          <p:cNvPr id="6" name="target">
            <a:extLst>
              <a:ext uri="{FF2B5EF4-FFF2-40B4-BE49-F238E27FC236}">
                <a16:creationId xmlns:a16="http://schemas.microsoft.com/office/drawing/2014/main" id="{555C51D6-0CC7-406A-8F34-59B4227EFCAB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F5138"/>
                </a:solidFill>
              </a:defRPr>
            </a:pPr>
            <a:r>
              <a:rPr sz="2100" b="1">
                <a:solidFill>
                  <a:srgbClr val="1F5138"/>
                </a:solidFill>
              </a:rPr>
              <a:t>HOME WIN   /   DRAW   /   AWAY WIN</a:t>
            </a:r>
          </a:p>
        </p:txBody>
      </p:sp>
      <p:sp>
        <p:nvSpPr>
          <p:cNvPr id="7" name="q1-points">
            <a:extLst>
              <a:ext uri="{FF2B5EF4-FFF2-40B4-BE49-F238E27FC236}">
                <a16:creationId xmlns:a16="http://schemas.microsoft.com/office/drawing/2014/main" id="{C82909A4-D383-46CC-B1E1-B47ED543A742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7143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B342F"/>
                </a:solidFill>
              </a:defRPr>
            </a:pPr>
            <a:r>
              <a:rPr sz="1500" dirty="0">
                <a:solidFill>
                  <a:srgbClr val="2B342F"/>
                </a:solidFill>
              </a:rPr>
              <a:t>Historical results reveal team form and scoring patterns.</a:t>
            </a:r>
          </a:p>
          <a:p>
            <a:pPr>
              <a:defRPr sz="1500">
                <a:solidFill>
                  <a:srgbClr val="2B342F"/>
                </a:solidFill>
              </a:defRPr>
            </a:pPr>
            <a:r>
              <a:rPr sz="1500" dirty="0">
                <a:solidFill>
                  <a:srgbClr val="2B342F"/>
                </a:solidFill>
              </a:rPr>
              <a:t>Data mining converts those patterns into predictive features.</a:t>
            </a:r>
          </a:p>
          <a:p>
            <a:pPr>
              <a:defRPr sz="1500">
                <a:solidFill>
                  <a:srgbClr val="2B342F"/>
                </a:solidFill>
              </a:defRPr>
            </a:pPr>
            <a:r>
              <a:rPr sz="1500" dirty="0">
                <a:solidFill>
                  <a:srgbClr val="2B342F"/>
                </a:solidFill>
              </a:rPr>
              <a:t>The model supports analysis — it does not guarantee exact results.</a:t>
            </a:r>
          </a:p>
        </p:txBody>
      </p:sp>
      <p:sp>
        <p:nvSpPr>
          <p:cNvPr id="8" name="reach-stat">
            <a:extLst>
              <a:ext uri="{FF2B5EF4-FFF2-40B4-BE49-F238E27FC236}">
                <a16:creationId xmlns:a16="http://schemas.microsoft.com/office/drawing/2014/main" id="{87BEB4C4-9626-4441-A9D9-BE48F1C8CE09}"/>
              </a:ext>
            </a:extLst>
          </p:cNvPr>
          <p:cNvSpPr>
            <a:spLocks noGrp="1"/>
          </p:cNvSpPr>
          <p:nvPr/>
        </p:nvSpPr>
        <p:spPr>
          <a:xfrm>
            <a:off x="8020050" y="119062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1F5138"/>
                </a:solidFill>
              </a:defRPr>
            </a:pPr>
            <a:r>
              <a:rPr sz="3900" b="1">
                <a:solidFill>
                  <a:srgbClr val="1F5138"/>
                </a:solidFill>
              </a:rPr>
              <a:t>≈5B</a:t>
            </a:r>
          </a:p>
        </p:txBody>
      </p:sp>
      <p:sp>
        <p:nvSpPr>
          <p:cNvPr id="9" name="reach-caption">
            <a:extLst>
              <a:ext uri="{FF2B5EF4-FFF2-40B4-BE49-F238E27FC236}">
                <a16:creationId xmlns:a16="http://schemas.microsoft.com/office/drawing/2014/main" id="{E68179C9-3BA7-4CBE-B62C-2C5AF417EBBC}"/>
              </a:ext>
            </a:extLst>
          </p:cNvPr>
          <p:cNvSpPr>
            <a:spLocks noGrp="1"/>
          </p:cNvSpPr>
          <p:nvPr/>
        </p:nvSpPr>
        <p:spPr>
          <a:xfrm>
            <a:off x="8020050" y="1847850"/>
            <a:ext cx="180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526057"/>
                </a:solidFill>
              </a:defRPr>
            </a:pPr>
            <a:r>
              <a:rPr sz="1350">
                <a:solidFill>
                  <a:srgbClr val="526057"/>
                </a:solidFill>
              </a:rPr>
              <a:t>fans reached by</a:t>
            </a:r>
          </a:p>
          <a:p>
            <a:pPr algn="ctr">
              <a:defRPr sz="1350">
                <a:solidFill>
                  <a:srgbClr val="526057"/>
                </a:solidFill>
              </a:defRPr>
            </a:pPr>
            <a:r>
              <a:rPr sz="1350">
                <a:solidFill>
                  <a:srgbClr val="526057"/>
                </a:solidFill>
              </a:rPr>
              <a:t>Qatar 2022</a:t>
            </a:r>
          </a:p>
        </p:txBody>
      </p:sp>
      <p:sp>
        <p:nvSpPr>
          <p:cNvPr id="10" name="q1-footer">
            <a:extLst>
              <a:ext uri="{FF2B5EF4-FFF2-40B4-BE49-F238E27FC236}">
                <a16:creationId xmlns:a16="http://schemas.microsoft.com/office/drawing/2014/main" id="{0BD77D56-0CE1-4F3F-A70D-6F2B65C7690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704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D746F"/>
                </a:solidFill>
              </a:defRPr>
            </a:pPr>
            <a:r>
              <a:rPr sz="900">
                <a:solidFill>
                  <a:srgbClr val="6D746F"/>
                </a:solidFill>
              </a:rPr>
              <a:t>Sources: FIFA (2023); Beal et al. (2020); Al-Bustami &amp; Ghazal (2025)</a:t>
            </a:r>
          </a:p>
        </p:txBody>
      </p:sp>
    </p:spTree>
    <p:extLst>
      <p:ext uri="{BB962C8B-B14F-4D97-AF65-F5344CB8AC3E}">
        <p14:creationId xmlns:p14="http://schemas.microsoft.com/office/powerpoint/2010/main" val="1290799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q2-kicker">
            <a:extLst>
              <a:ext uri="{FF2B5EF4-FFF2-40B4-BE49-F238E27FC236}">
                <a16:creationId xmlns:a16="http://schemas.microsoft.com/office/drawing/2014/main" id="{137EABB4-BD35-4A9F-A0AE-3EBD47F78EA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A7782E"/>
                </a:solidFill>
              </a:defRPr>
            </a:pPr>
            <a:r>
              <a:rPr sz="1200" b="1">
                <a:solidFill>
                  <a:srgbClr val="A7782E"/>
                </a:solidFill>
              </a:rPr>
              <a:t>Q2  |  DESCRIPTION OF DATA</a:t>
            </a:r>
          </a:p>
        </p:txBody>
      </p:sp>
      <p:sp>
        <p:nvSpPr>
          <p:cNvPr id="3" name="q2-title">
            <a:extLst>
              <a:ext uri="{FF2B5EF4-FFF2-40B4-BE49-F238E27FC236}">
                <a16:creationId xmlns:a16="http://schemas.microsoft.com/office/drawing/2014/main" id="{52ED7E5B-7891-46F9-800D-EA23A172E1B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7231D"/>
                </a:solidFill>
              </a:defRPr>
            </a:pPr>
            <a:r>
              <a:rPr sz="2700" b="1">
                <a:solidFill>
                  <a:srgbClr val="17231D"/>
                </a:solidFill>
              </a:rPr>
              <a:t>49,477 matches cover international football from 1872 to 2026</a:t>
            </a:r>
          </a:p>
        </p:txBody>
      </p:sp>
      <p:sp>
        <p:nvSpPr>
          <p:cNvPr id="4" name="sample-frame">
            <a:extLst>
              <a:ext uri="{FF2B5EF4-FFF2-40B4-BE49-F238E27FC236}">
                <a16:creationId xmlns:a16="http://schemas.microsoft.com/office/drawing/2014/main" id="{4139B8F6-5BC9-4D0F-AC68-1C32A94F9E3E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8496300" cy="3638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6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570" y="1752600"/>
            <a:ext cx="8292560" cy="3448050"/>
          </a:xfrm>
          <a:prstGeom prst="rect">
            <a:avLst/>
          </a:prstGeom>
        </p:spPr>
      </p:pic>
      <p:sp>
        <p:nvSpPr>
          <p:cNvPr id="6" name="facts-panel">
            <a:extLst>
              <a:ext uri="{FF2B5EF4-FFF2-40B4-BE49-F238E27FC236}">
                <a16:creationId xmlns:a16="http://schemas.microsoft.com/office/drawing/2014/main" id="{372DFC65-8943-4181-B26F-BCC540EE7F7D}"/>
              </a:ext>
            </a:extLst>
          </p:cNvPr>
          <p:cNvSpPr>
            <a:spLocks noGrp="1"/>
          </p:cNvSpPr>
          <p:nvPr/>
        </p:nvSpPr>
        <p:spPr>
          <a:xfrm>
            <a:off x="9315450" y="1581150"/>
            <a:ext cx="2362200" cy="38290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ormat-stat">
            <a:extLst>
              <a:ext uri="{FF2B5EF4-FFF2-40B4-BE49-F238E27FC236}">
                <a16:creationId xmlns:a16="http://schemas.microsoft.com/office/drawing/2014/main" id="{05E1BE92-DE06-4443-A889-0FA2D3FD7ECC}"/>
              </a:ext>
            </a:extLst>
          </p:cNvPr>
          <p:cNvSpPr>
            <a:spLocks noGrp="1"/>
          </p:cNvSpPr>
          <p:nvPr/>
        </p:nvSpPr>
        <p:spPr>
          <a:xfrm>
            <a:off x="9477375" y="176212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F5138"/>
                </a:solidFill>
              </a:defRPr>
            </a:pPr>
            <a:r>
              <a:rPr sz="2700" b="1">
                <a:solidFill>
                  <a:srgbClr val="1F5138"/>
                </a:solidFill>
              </a:rPr>
              <a:t>CSV</a:t>
            </a:r>
          </a:p>
        </p:txBody>
      </p:sp>
      <p:sp>
        <p:nvSpPr>
          <p:cNvPr id="8" name="format-caption">
            <a:extLst>
              <a:ext uri="{FF2B5EF4-FFF2-40B4-BE49-F238E27FC236}">
                <a16:creationId xmlns:a16="http://schemas.microsoft.com/office/drawing/2014/main" id="{23792388-1F97-454D-BC53-250C95B59760}"/>
              </a:ext>
            </a:extLst>
          </p:cNvPr>
          <p:cNvSpPr>
            <a:spLocks noGrp="1"/>
          </p:cNvSpPr>
          <p:nvPr/>
        </p:nvSpPr>
        <p:spPr>
          <a:xfrm>
            <a:off x="9477375" y="22098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57"/>
                </a:solidFill>
              </a:defRPr>
            </a:pPr>
            <a:r>
              <a:rPr sz="1275">
                <a:solidFill>
                  <a:srgbClr val="526057"/>
                </a:solidFill>
              </a:rPr>
              <a:t>structured table</a:t>
            </a:r>
          </a:p>
        </p:txBody>
      </p:sp>
      <p:sp>
        <p:nvSpPr>
          <p:cNvPr id="9" name="fields-stat">
            <a:extLst>
              <a:ext uri="{FF2B5EF4-FFF2-40B4-BE49-F238E27FC236}">
                <a16:creationId xmlns:a16="http://schemas.microsoft.com/office/drawing/2014/main" id="{5A6514DC-043B-423D-A63C-2A2EAA57CF6D}"/>
              </a:ext>
            </a:extLst>
          </p:cNvPr>
          <p:cNvSpPr>
            <a:spLocks noGrp="1"/>
          </p:cNvSpPr>
          <p:nvPr/>
        </p:nvSpPr>
        <p:spPr>
          <a:xfrm>
            <a:off x="9477375" y="27241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F5138"/>
                </a:solidFill>
              </a:defRPr>
            </a:pPr>
            <a:r>
              <a:rPr sz="2325" b="1">
                <a:solidFill>
                  <a:srgbClr val="1F5138"/>
                </a:solidFill>
              </a:rPr>
              <a:t>9 fields</a:t>
            </a:r>
          </a:p>
        </p:txBody>
      </p:sp>
      <p:sp>
        <p:nvSpPr>
          <p:cNvPr id="10" name="fields-caption">
            <a:extLst>
              <a:ext uri="{FF2B5EF4-FFF2-40B4-BE49-F238E27FC236}">
                <a16:creationId xmlns:a16="http://schemas.microsoft.com/office/drawing/2014/main" id="{4051BF90-6EA0-4344-B164-A4BE839A9709}"/>
              </a:ext>
            </a:extLst>
          </p:cNvPr>
          <p:cNvSpPr>
            <a:spLocks noGrp="1"/>
          </p:cNvSpPr>
          <p:nvPr/>
        </p:nvSpPr>
        <p:spPr>
          <a:xfrm>
            <a:off x="9477375" y="3181350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D4841"/>
                </a:solidFill>
              </a:defRPr>
            </a:pPr>
            <a:r>
              <a:rPr sz="1200">
                <a:solidFill>
                  <a:srgbClr val="3D4841"/>
                </a:solidFill>
              </a:rPr>
              <a:t>date · teams · scores</a:t>
            </a:r>
          </a:p>
          <a:p>
            <a:pPr>
              <a:defRPr sz="1200">
                <a:solidFill>
                  <a:srgbClr val="3D4841"/>
                </a:solidFill>
              </a:defRPr>
            </a:pPr>
            <a:r>
              <a:rPr sz="1200">
                <a:solidFill>
                  <a:srgbClr val="3D4841"/>
                </a:solidFill>
              </a:rPr>
              <a:t>tournament · location · neutral</a:t>
            </a:r>
          </a:p>
        </p:txBody>
      </p:sp>
      <p:sp>
        <p:nvSpPr>
          <p:cNvPr id="11" name="timeline-stat">
            <a:extLst>
              <a:ext uri="{FF2B5EF4-FFF2-40B4-BE49-F238E27FC236}">
                <a16:creationId xmlns:a16="http://schemas.microsoft.com/office/drawing/2014/main" id="{BD512CD8-1F6B-4194-83D4-75F774A73556}"/>
              </a:ext>
            </a:extLst>
          </p:cNvPr>
          <p:cNvSpPr>
            <a:spLocks noGrp="1"/>
          </p:cNvSpPr>
          <p:nvPr/>
        </p:nvSpPr>
        <p:spPr>
          <a:xfrm>
            <a:off x="9477375" y="416242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1F5138"/>
                </a:solidFill>
              </a:defRPr>
            </a:pPr>
            <a:r>
              <a:rPr sz="2025" b="1">
                <a:solidFill>
                  <a:srgbClr val="1F5138"/>
                </a:solidFill>
              </a:rPr>
              <a:t>1872–2026</a:t>
            </a:r>
          </a:p>
        </p:txBody>
      </p:sp>
      <p:sp>
        <p:nvSpPr>
          <p:cNvPr id="12" name="timeline-caption">
            <a:extLst>
              <a:ext uri="{FF2B5EF4-FFF2-40B4-BE49-F238E27FC236}">
                <a16:creationId xmlns:a16="http://schemas.microsoft.com/office/drawing/2014/main" id="{4A7B9C90-00BE-41C4-8CE5-524A592DE53B}"/>
              </a:ext>
            </a:extLst>
          </p:cNvPr>
          <p:cNvSpPr>
            <a:spLocks noGrp="1"/>
          </p:cNvSpPr>
          <p:nvPr/>
        </p:nvSpPr>
        <p:spPr>
          <a:xfrm>
            <a:off x="9477375" y="4610100"/>
            <a:ext cx="2143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3D4841"/>
                </a:solidFill>
              </a:defRPr>
            </a:pPr>
            <a:r>
              <a:rPr sz="1125">
                <a:solidFill>
                  <a:srgbClr val="3D4841"/>
                </a:solidFill>
              </a:rPr>
              <a:t>completed matches train the model;</a:t>
            </a:r>
          </a:p>
          <a:p>
            <a:pPr>
              <a:defRPr sz="1125">
                <a:solidFill>
                  <a:srgbClr val="3D4841"/>
                </a:solidFill>
              </a:defRPr>
            </a:pPr>
            <a:r>
              <a:rPr sz="1125">
                <a:solidFill>
                  <a:srgbClr val="3D4841"/>
                </a:solidFill>
              </a:rPr>
              <a:t>unplayed fixtures are excluded</a:t>
            </a:r>
          </a:p>
        </p:txBody>
      </p:sp>
      <p:sp>
        <p:nvSpPr>
          <p:cNvPr id="13" name="q2-takeaway">
            <a:extLst>
              <a:ext uri="{FF2B5EF4-FFF2-40B4-BE49-F238E27FC236}">
                <a16:creationId xmlns:a16="http://schemas.microsoft.com/office/drawing/2014/main" id="{0343190F-1E5F-4A18-8F64-E4E03EDC3194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25342C"/>
                </a:solidFill>
              </a:defRPr>
            </a:pPr>
            <a:r>
              <a:rPr sz="1425" b="1" dirty="0">
                <a:solidFill>
                  <a:srgbClr val="25342C"/>
                </a:solidFill>
              </a:rPr>
              <a:t>Each row represents one match; </a:t>
            </a:r>
            <a:r>
              <a:rPr sz="1425" b="1" dirty="0" err="1">
                <a:solidFill>
                  <a:srgbClr val="25342C"/>
                </a:solidFill>
              </a:rPr>
              <a:t>home</a:t>
            </a:r>
            <a:r>
              <a:rPr lang="en-US" sz="1425" b="1" dirty="0" err="1">
                <a:solidFill>
                  <a:srgbClr val="25342C"/>
                </a:solidFill>
              </a:rPr>
              <a:t>_</a:t>
            </a:r>
            <a:r>
              <a:rPr sz="1425" b="1" dirty="0" err="1">
                <a:solidFill>
                  <a:srgbClr val="25342C"/>
                </a:solidFill>
              </a:rPr>
              <a:t>score</a:t>
            </a:r>
            <a:r>
              <a:rPr sz="1425" b="1" dirty="0">
                <a:solidFill>
                  <a:srgbClr val="25342C"/>
                </a:solidFill>
              </a:rPr>
              <a:t> and </a:t>
            </a:r>
            <a:r>
              <a:rPr sz="1425" b="1" dirty="0" err="1">
                <a:solidFill>
                  <a:srgbClr val="25342C"/>
                </a:solidFill>
              </a:rPr>
              <a:t>away</a:t>
            </a:r>
            <a:r>
              <a:rPr lang="en-US" sz="1425" b="1" dirty="0" err="1">
                <a:solidFill>
                  <a:srgbClr val="25342C"/>
                </a:solidFill>
              </a:rPr>
              <a:t>_</a:t>
            </a:r>
            <a:r>
              <a:rPr sz="1425" b="1" dirty="0" err="1">
                <a:solidFill>
                  <a:srgbClr val="25342C"/>
                </a:solidFill>
              </a:rPr>
              <a:t>score</a:t>
            </a:r>
            <a:r>
              <a:rPr sz="1425" b="1" dirty="0">
                <a:solidFill>
                  <a:srgbClr val="25342C"/>
                </a:solidFill>
              </a:rPr>
              <a:t> define the three-class target.</a:t>
            </a:r>
          </a:p>
        </p:txBody>
      </p:sp>
      <p:sp>
        <p:nvSpPr>
          <p:cNvPr id="14" name="q2-data-types">
            <a:extLst>
              <a:ext uri="{FF2B5EF4-FFF2-40B4-BE49-F238E27FC236}">
                <a16:creationId xmlns:a16="http://schemas.microsoft.com/office/drawing/2014/main" id="{52BF3610-D789-45A9-80CF-C127D0D29FF3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D4841"/>
                </a:solidFill>
              </a:defRPr>
            </a:pPr>
            <a:r>
              <a:rPr sz="1400" dirty="0">
                <a:solidFill>
                  <a:srgbClr val="3D4841"/>
                </a:solidFill>
              </a:rPr>
              <a:t>Data types: date, categorical fields, numeric scores, and Boolean neutral venue.</a:t>
            </a:r>
          </a:p>
        </p:txBody>
      </p:sp>
      <p:sp>
        <p:nvSpPr>
          <p:cNvPr id="15" name="q2-footer">
            <a:extLst>
              <a:ext uri="{FF2B5EF4-FFF2-40B4-BE49-F238E27FC236}">
                <a16:creationId xmlns:a16="http://schemas.microsoft.com/office/drawing/2014/main" id="{AD1FAE59-1643-4BBD-A97F-25CB95A2A477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D746F"/>
                </a:solidFill>
              </a:defRPr>
            </a:pPr>
            <a:r>
              <a:rPr sz="900">
                <a:solidFill>
                  <a:srgbClr val="6D746F"/>
                </a:solidFill>
              </a:rPr>
              <a:t>Source: International Football Results (Jürisoo, 2026), Kaggle</a:t>
            </a:r>
          </a:p>
        </p:txBody>
      </p:sp>
    </p:spTree>
    <p:extLst>
      <p:ext uri="{BB962C8B-B14F-4D97-AF65-F5344CB8AC3E}">
        <p14:creationId xmlns:p14="http://schemas.microsoft.com/office/powerpoint/2010/main" val="74745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q3-kicker">
            <a:extLst>
              <a:ext uri="{FF2B5EF4-FFF2-40B4-BE49-F238E27FC236}">
                <a16:creationId xmlns:a16="http://schemas.microsoft.com/office/drawing/2014/main" id="{253D1259-8EFE-4A72-812D-B0A05C6F4D6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A7782E"/>
                </a:solidFill>
              </a:defRPr>
            </a:pPr>
            <a:r>
              <a:rPr sz="1200" b="1">
                <a:solidFill>
                  <a:srgbClr val="A7782E"/>
                </a:solidFill>
              </a:rPr>
              <a:t>Q3  |  DATA PROBLEMS &amp; PRE-PROCESSING</a:t>
            </a:r>
          </a:p>
        </p:txBody>
      </p:sp>
      <p:sp>
        <p:nvSpPr>
          <p:cNvPr id="3" name="q3-title">
            <a:extLst>
              <a:ext uri="{FF2B5EF4-FFF2-40B4-BE49-F238E27FC236}">
                <a16:creationId xmlns:a16="http://schemas.microsoft.com/office/drawing/2014/main" id="{ECD2CF18-6963-4F05-B2F3-8D6AA313BC5E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231D"/>
                </a:solidFill>
              </a:defRPr>
            </a:pPr>
            <a:r>
              <a:rPr sz="2850" b="1">
                <a:solidFill>
                  <a:srgbClr val="17231D"/>
                </a:solidFill>
              </a:rPr>
              <a:t>Raw match records became 23 leakage-safe predictors</a:t>
            </a:r>
          </a:p>
        </p:txBody>
      </p:sp>
      <p:sp>
        <p:nvSpPr>
          <p:cNvPr id="4" name="problems-label">
            <a:extLst>
              <a:ext uri="{FF2B5EF4-FFF2-40B4-BE49-F238E27FC236}">
                <a16:creationId xmlns:a16="http://schemas.microsoft.com/office/drawing/2014/main" id="{2CABA70E-BB77-4498-B861-5169F9E6DD1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C6D62"/>
                </a:solidFill>
              </a:defRPr>
            </a:pPr>
            <a:r>
              <a:rPr sz="1125" b="1">
                <a:solidFill>
                  <a:srgbClr val="5C6D62"/>
                </a:solidFill>
              </a:rPr>
              <a:t>KEY DATA PROBLEMS</a:t>
            </a:r>
          </a:p>
        </p:txBody>
      </p:sp>
      <p:sp>
        <p:nvSpPr>
          <p:cNvPr id="5" name="problem-1">
            <a:extLst>
              <a:ext uri="{FF2B5EF4-FFF2-40B4-BE49-F238E27FC236}">
                <a16:creationId xmlns:a16="http://schemas.microsoft.com/office/drawing/2014/main" id="{E08504FC-5281-492F-AA26-953483F4CF94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F5138"/>
                </a:solidFill>
              </a:defRPr>
            </a:pPr>
            <a:r>
              <a:rPr sz="1725" b="1">
                <a:solidFill>
                  <a:srgbClr val="1F5138"/>
                </a:solidFill>
              </a:rPr>
              <a:t>Unscored future fixtures</a:t>
            </a:r>
          </a:p>
        </p:txBody>
      </p:sp>
      <p:sp>
        <p:nvSpPr>
          <p:cNvPr id="6" name="problem-1-note">
            <a:extLst>
              <a:ext uri="{FF2B5EF4-FFF2-40B4-BE49-F238E27FC236}">
                <a16:creationId xmlns:a16="http://schemas.microsoft.com/office/drawing/2014/main" id="{11D16A89-ED6B-4991-8EA7-BE78E9D43C36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57"/>
                </a:solidFill>
              </a:defRPr>
            </a:pPr>
            <a:r>
              <a:rPr sz="1200">
                <a:solidFill>
                  <a:srgbClr val="526057"/>
                </a:solidFill>
              </a:rPr>
              <a:t>Not valid as completed training records</a:t>
            </a:r>
          </a:p>
        </p:txBody>
      </p:sp>
      <p:sp>
        <p:nvSpPr>
          <p:cNvPr id="7" name="problem-2">
            <a:extLst>
              <a:ext uri="{FF2B5EF4-FFF2-40B4-BE49-F238E27FC236}">
                <a16:creationId xmlns:a16="http://schemas.microsoft.com/office/drawing/2014/main" id="{0257A9D6-B986-4A02-94EF-B657FBCA89CF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F5138"/>
                </a:solidFill>
              </a:defRPr>
            </a:pPr>
            <a:r>
              <a:rPr sz="1725" b="1">
                <a:solidFill>
                  <a:srgbClr val="1F5138"/>
                </a:solidFill>
              </a:rPr>
              <a:t>Fragmented tournament labels</a:t>
            </a:r>
          </a:p>
        </p:txBody>
      </p:sp>
      <p:sp>
        <p:nvSpPr>
          <p:cNvPr id="8" name="problem-2-note">
            <a:extLst>
              <a:ext uri="{FF2B5EF4-FFF2-40B4-BE49-F238E27FC236}">
                <a16:creationId xmlns:a16="http://schemas.microsoft.com/office/drawing/2014/main" id="{C37F2E7C-E710-4908-9515-EC71BE319DD7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57"/>
                </a:solidFill>
              </a:defRPr>
            </a:pPr>
            <a:r>
              <a:rPr sz="1200">
                <a:solidFill>
                  <a:srgbClr val="526057"/>
                </a:solidFill>
              </a:rPr>
              <a:t>Too many categories for consistent modelling</a:t>
            </a:r>
          </a:p>
        </p:txBody>
      </p:sp>
      <p:sp>
        <p:nvSpPr>
          <p:cNvPr id="9" name="problem-3">
            <a:extLst>
              <a:ext uri="{FF2B5EF4-FFF2-40B4-BE49-F238E27FC236}">
                <a16:creationId xmlns:a16="http://schemas.microsoft.com/office/drawing/2014/main" id="{222CA338-BE74-4954-BEC9-55792BE84435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F5138"/>
                </a:solidFill>
              </a:defRPr>
            </a:pPr>
            <a:r>
              <a:rPr sz="1725" b="1">
                <a:solidFill>
                  <a:srgbClr val="1F5138"/>
                </a:solidFill>
              </a:rPr>
              <a:t>No direct team-form variables</a:t>
            </a:r>
          </a:p>
        </p:txBody>
      </p:sp>
      <p:sp>
        <p:nvSpPr>
          <p:cNvPr id="10" name="problem-3-note">
            <a:extLst>
              <a:ext uri="{FF2B5EF4-FFF2-40B4-BE49-F238E27FC236}">
                <a16:creationId xmlns:a16="http://schemas.microsoft.com/office/drawing/2014/main" id="{3795493A-05A2-4B01-AB59-CBF39AE4C554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57"/>
                </a:solidFill>
              </a:defRPr>
            </a:pPr>
            <a:r>
              <a:rPr sz="1200">
                <a:solidFill>
                  <a:srgbClr val="526057"/>
                </a:solidFill>
              </a:rPr>
              <a:t>Raw rows did not express recent strength</a:t>
            </a:r>
          </a:p>
        </p:txBody>
      </p:sp>
      <p:sp>
        <p:nvSpPr>
          <p:cNvPr id="11" name="problem-4">
            <a:extLst>
              <a:ext uri="{FF2B5EF4-FFF2-40B4-BE49-F238E27FC236}">
                <a16:creationId xmlns:a16="http://schemas.microsoft.com/office/drawing/2014/main" id="{C8AE75C5-48CC-49F5-8894-37B9B78DB047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F5138"/>
                </a:solidFill>
              </a:defRPr>
            </a:pPr>
            <a:r>
              <a:rPr sz="1725" b="1">
                <a:solidFill>
                  <a:srgbClr val="1F5138"/>
                </a:solidFill>
              </a:rPr>
              <a:t>Cold-start and class imbalance</a:t>
            </a:r>
          </a:p>
        </p:txBody>
      </p:sp>
      <p:sp>
        <p:nvSpPr>
          <p:cNvPr id="12" name="problem-4-note">
            <a:extLst>
              <a:ext uri="{FF2B5EF4-FFF2-40B4-BE49-F238E27FC236}">
                <a16:creationId xmlns:a16="http://schemas.microsoft.com/office/drawing/2014/main" id="{74DA0741-1D53-479B-A5A3-EC460596B4AB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57"/>
                </a:solidFill>
              </a:defRPr>
            </a:pPr>
            <a:r>
              <a:rPr sz="1200">
                <a:solidFill>
                  <a:srgbClr val="526057"/>
                </a:solidFill>
              </a:rPr>
              <a:t>Sparse team history and fewer Draw outcomes</a:t>
            </a:r>
          </a:p>
        </p:txBody>
      </p:sp>
      <p:sp>
        <p:nvSpPr>
          <p:cNvPr id="13" name="preprocess-panel">
            <a:extLst>
              <a:ext uri="{FF2B5EF4-FFF2-40B4-BE49-F238E27FC236}">
                <a16:creationId xmlns:a16="http://schemas.microsoft.com/office/drawing/2014/main" id="{A3295ED6-169C-408E-92FC-39B28A41AE78}"/>
              </a:ext>
            </a:extLst>
          </p:cNvPr>
          <p:cNvSpPr>
            <a:spLocks noGrp="1"/>
          </p:cNvSpPr>
          <p:nvPr/>
        </p:nvSpPr>
        <p:spPr>
          <a:xfrm>
            <a:off x="4476750" y="1676400"/>
            <a:ext cx="6762750" cy="39243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preprocess-label">
            <a:extLst>
              <a:ext uri="{FF2B5EF4-FFF2-40B4-BE49-F238E27FC236}">
                <a16:creationId xmlns:a16="http://schemas.microsoft.com/office/drawing/2014/main" id="{29F67E60-1CDB-4549-B673-D4C9241814F3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F5138"/>
                </a:solidFill>
              </a:defRPr>
            </a:pPr>
            <a:r>
              <a:rPr sz="1350" b="1">
                <a:solidFill>
                  <a:srgbClr val="1F5138"/>
                </a:solidFill>
              </a:rPr>
              <a:t>PRE-PROCESSING</a:t>
            </a:r>
          </a:p>
        </p:txBody>
      </p:sp>
      <p:sp>
        <p:nvSpPr>
          <p:cNvPr id="15" name="step-1">
            <a:extLst>
              <a:ext uri="{FF2B5EF4-FFF2-40B4-BE49-F238E27FC236}">
                <a16:creationId xmlns:a16="http://schemas.microsoft.com/office/drawing/2014/main" id="{945157E8-3474-4E70-84D1-D44D2C10562B}"/>
              </a:ext>
            </a:extLst>
          </p:cNvPr>
          <p:cNvSpPr>
            <a:spLocks noGrp="1"/>
          </p:cNvSpPr>
          <p:nvPr/>
        </p:nvSpPr>
        <p:spPr>
          <a:xfrm>
            <a:off x="4857750" y="251460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31D"/>
                </a:solidFill>
              </a:defRPr>
            </a:pPr>
            <a:r>
              <a:rPr sz="1575" b="1">
                <a:solidFill>
                  <a:srgbClr val="17231D"/>
                </a:solidFill>
              </a:rPr>
              <a:t>01  Standardize dates and sort chronologically</a:t>
            </a:r>
          </a:p>
        </p:txBody>
      </p:sp>
      <p:sp>
        <p:nvSpPr>
          <p:cNvPr id="16" name="step-2">
            <a:extLst>
              <a:ext uri="{FF2B5EF4-FFF2-40B4-BE49-F238E27FC236}">
                <a16:creationId xmlns:a16="http://schemas.microsoft.com/office/drawing/2014/main" id="{3CAFF26E-848B-4F06-BD11-86736B0B3BE6}"/>
              </a:ext>
            </a:extLst>
          </p:cNvPr>
          <p:cNvSpPr>
            <a:spLocks noGrp="1"/>
          </p:cNvSpPr>
          <p:nvPr/>
        </p:nvSpPr>
        <p:spPr>
          <a:xfrm>
            <a:off x="4857750" y="31051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31D"/>
                </a:solidFill>
              </a:defRPr>
            </a:pPr>
            <a:r>
              <a:rPr sz="1575" b="1">
                <a:solidFill>
                  <a:srgbClr val="17231D"/>
                </a:solidFill>
              </a:rPr>
              <a:t>02  Consolidate tournaments into four categories</a:t>
            </a:r>
          </a:p>
        </p:txBody>
      </p:sp>
      <p:sp>
        <p:nvSpPr>
          <p:cNvPr id="17" name="step-3">
            <a:extLst>
              <a:ext uri="{FF2B5EF4-FFF2-40B4-BE49-F238E27FC236}">
                <a16:creationId xmlns:a16="http://schemas.microsoft.com/office/drawing/2014/main" id="{670770C3-E541-4493-88E9-FECDFB56A0D6}"/>
              </a:ext>
            </a:extLst>
          </p:cNvPr>
          <p:cNvSpPr>
            <a:spLocks noGrp="1"/>
          </p:cNvSpPr>
          <p:nvPr/>
        </p:nvSpPr>
        <p:spPr>
          <a:xfrm>
            <a:off x="4857750" y="36957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31D"/>
                </a:solidFill>
              </a:defRPr>
            </a:pPr>
            <a:r>
              <a:rPr sz="1575" b="1">
                <a:solidFill>
                  <a:srgbClr val="17231D"/>
                </a:solidFill>
              </a:rPr>
              <a:t>03  Build targets and five-match rolling features</a:t>
            </a:r>
          </a:p>
        </p:txBody>
      </p:sp>
      <p:sp>
        <p:nvSpPr>
          <p:cNvPr id="18" name="step-3-note">
            <a:extLst>
              <a:ext uri="{FF2B5EF4-FFF2-40B4-BE49-F238E27FC236}">
                <a16:creationId xmlns:a16="http://schemas.microsoft.com/office/drawing/2014/main" id="{AC59C3BD-6948-439B-A581-C6E97A29A470}"/>
              </a:ext>
            </a:extLst>
          </p:cNvPr>
          <p:cNvSpPr>
            <a:spLocks noGrp="1"/>
          </p:cNvSpPr>
          <p:nvPr/>
        </p:nvSpPr>
        <p:spPr>
          <a:xfrm>
            <a:off x="5238750" y="401955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57"/>
                </a:solidFill>
              </a:defRPr>
            </a:pPr>
            <a:r>
              <a:rPr sz="1200">
                <a:solidFill>
                  <a:srgbClr val="526057"/>
                </a:solidFill>
              </a:rPr>
              <a:t>Win/draw rate · goals for/against · goal difference</a:t>
            </a:r>
          </a:p>
        </p:txBody>
      </p:sp>
      <p:sp>
        <p:nvSpPr>
          <p:cNvPr id="19" name="step-4">
            <a:extLst>
              <a:ext uri="{FF2B5EF4-FFF2-40B4-BE49-F238E27FC236}">
                <a16:creationId xmlns:a16="http://schemas.microsoft.com/office/drawing/2014/main" id="{551CD861-535C-4933-942E-5B3AB2150948}"/>
              </a:ext>
            </a:extLst>
          </p:cNvPr>
          <p:cNvSpPr>
            <a:spLocks noGrp="1"/>
          </p:cNvSpPr>
          <p:nvPr/>
        </p:nvSpPr>
        <p:spPr>
          <a:xfrm>
            <a:off x="4857750" y="44958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31D"/>
                </a:solidFill>
              </a:defRPr>
            </a:pPr>
            <a:r>
              <a:rPr sz="1575" b="1">
                <a:solidFill>
                  <a:srgbClr val="17231D"/>
                </a:solidFill>
              </a:rPr>
              <a:t>04  Compare home and away team form</a:t>
            </a:r>
          </a:p>
        </p:txBody>
      </p:sp>
      <p:sp>
        <p:nvSpPr>
          <p:cNvPr id="20" name="step-5">
            <a:extLst>
              <a:ext uri="{FF2B5EF4-FFF2-40B4-BE49-F238E27FC236}">
                <a16:creationId xmlns:a16="http://schemas.microsoft.com/office/drawing/2014/main" id="{2044353B-391F-45BC-8835-050F830A7716}"/>
              </a:ext>
            </a:extLst>
          </p:cNvPr>
          <p:cNvSpPr>
            <a:spLocks noGrp="1"/>
          </p:cNvSpPr>
          <p:nvPr/>
        </p:nvSpPr>
        <p:spPr>
          <a:xfrm>
            <a:off x="4857750" y="50863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31D"/>
                </a:solidFill>
              </a:defRPr>
            </a:pPr>
            <a:r>
              <a:rPr sz="1575" b="1">
                <a:solidFill>
                  <a:srgbClr val="17231D"/>
                </a:solidFill>
              </a:rPr>
              <a:t>05  Treat cold starts, encode categories and validate</a:t>
            </a:r>
          </a:p>
        </p:txBody>
      </p:sp>
      <p:sp>
        <p:nvSpPr>
          <p:cNvPr id="21" name="missing-value">
            <a:extLst>
              <a:ext uri="{FF2B5EF4-FFF2-40B4-BE49-F238E27FC236}">
                <a16:creationId xmlns:a16="http://schemas.microsoft.com/office/drawing/2014/main" id="{3B816587-CD91-45C6-A46E-F5B46224898F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A7782E"/>
                </a:solidFill>
              </a:defRPr>
            </a:pPr>
            <a:r>
              <a:rPr sz="2550" b="1">
                <a:solidFill>
                  <a:srgbClr val="A7782E"/>
                </a:solidFill>
              </a:rPr>
              <a:t>1,680 → 0</a:t>
            </a:r>
          </a:p>
        </p:txBody>
      </p:sp>
      <p:sp>
        <p:nvSpPr>
          <p:cNvPr id="22" name="missing-value-note">
            <a:extLst>
              <a:ext uri="{FF2B5EF4-FFF2-40B4-BE49-F238E27FC236}">
                <a16:creationId xmlns:a16="http://schemas.microsoft.com/office/drawing/2014/main" id="{E1951DD5-4773-4161-A7E3-2BC35A6504E6}"/>
              </a:ext>
            </a:extLst>
          </p:cNvPr>
          <p:cNvSpPr>
            <a:spLocks noGrp="1"/>
          </p:cNvSpPr>
          <p:nvPr/>
        </p:nvSpPr>
        <p:spPr>
          <a:xfrm>
            <a:off x="2571750" y="5848350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3D4841"/>
                </a:solidFill>
              </a:defRPr>
            </a:pPr>
            <a:r>
              <a:rPr sz="1275">
                <a:solidFill>
                  <a:srgbClr val="3D4841"/>
                </a:solidFill>
              </a:rPr>
              <a:t>missing engineered values after treatment</a:t>
            </a:r>
          </a:p>
        </p:txBody>
      </p:sp>
    </p:spTree>
    <p:extLst>
      <p:ext uri="{BB962C8B-B14F-4D97-AF65-F5344CB8AC3E}">
        <p14:creationId xmlns:p14="http://schemas.microsoft.com/office/powerpoint/2010/main" val="156004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q4-kicker">
            <a:extLst>
              <a:ext uri="{FF2B5EF4-FFF2-40B4-BE49-F238E27FC236}">
                <a16:creationId xmlns:a16="http://schemas.microsoft.com/office/drawing/2014/main" id="{81371667-575C-4BED-B0F4-70E5E9A4ACF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A7782E"/>
                </a:solidFill>
              </a:defRPr>
            </a:pPr>
            <a:r>
              <a:rPr sz="1200" b="1">
                <a:solidFill>
                  <a:srgbClr val="A7782E"/>
                </a:solidFill>
              </a:rPr>
              <a:t>Q4  |  DATA MINING TECHNIQUES</a:t>
            </a:r>
          </a:p>
        </p:txBody>
      </p:sp>
      <p:sp>
        <p:nvSpPr>
          <p:cNvPr id="3" name="q4-title">
            <a:extLst>
              <a:ext uri="{FF2B5EF4-FFF2-40B4-BE49-F238E27FC236}">
                <a16:creationId xmlns:a16="http://schemas.microsoft.com/office/drawing/2014/main" id="{B6803BC2-BDCD-482D-9938-5FCC7A8B78A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17231D"/>
                </a:solidFill>
              </a:defRPr>
            </a:pPr>
            <a:r>
              <a:rPr sz="2775" b="1">
                <a:solidFill>
                  <a:srgbClr val="17231D"/>
                </a:solidFill>
              </a:rPr>
              <a:t>Three classifiers test different assumptions about outcomes</a:t>
            </a:r>
          </a:p>
        </p:txBody>
      </p:sp>
      <p:sp>
        <p:nvSpPr>
          <p:cNvPr id="4" name="technique-label">
            <a:extLst>
              <a:ext uri="{FF2B5EF4-FFF2-40B4-BE49-F238E27FC236}">
                <a16:creationId xmlns:a16="http://schemas.microsoft.com/office/drawing/2014/main" id="{1CE23803-CCA4-454B-A032-60F347539CF2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C6D62"/>
                </a:solidFill>
              </a:defRPr>
            </a:pPr>
            <a:r>
              <a:rPr sz="1125" b="1">
                <a:solidFill>
                  <a:srgbClr val="5C6D62"/>
                </a:solidFill>
              </a:rPr>
              <a:t>TECHNIQUE</a:t>
            </a:r>
          </a:p>
        </p:txBody>
      </p:sp>
      <p:sp>
        <p:nvSpPr>
          <p:cNvPr id="5" name="technique-main">
            <a:extLst>
              <a:ext uri="{FF2B5EF4-FFF2-40B4-BE49-F238E27FC236}">
                <a16:creationId xmlns:a16="http://schemas.microsoft.com/office/drawing/2014/main" id="{AB5BF95C-9D56-4668-8D56-D0DBF3F4DF95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4290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F5138"/>
                </a:solidFill>
              </a:defRPr>
            </a:pPr>
            <a:r>
              <a:rPr sz="2550" b="1">
                <a:solidFill>
                  <a:srgbClr val="1F5138"/>
                </a:solidFill>
              </a:rPr>
              <a:t>Supervised</a:t>
            </a:r>
          </a:p>
          <a:p>
            <a:pPr>
              <a:defRPr sz="2550" b="1">
                <a:solidFill>
                  <a:srgbClr val="1F5138"/>
                </a:solidFill>
              </a:defRPr>
            </a:pPr>
            <a:r>
              <a:rPr sz="2550" b="1">
                <a:solidFill>
                  <a:srgbClr val="1F5138"/>
                </a:solidFill>
              </a:rPr>
              <a:t>multi-class</a:t>
            </a:r>
          </a:p>
          <a:p>
            <a:pPr>
              <a:defRPr sz="2550" b="1">
                <a:solidFill>
                  <a:srgbClr val="1F5138"/>
                </a:solidFill>
              </a:defRPr>
            </a:pPr>
            <a:r>
              <a:rPr sz="2550" b="1">
                <a:solidFill>
                  <a:srgbClr val="1F5138"/>
                </a:solidFill>
              </a:rPr>
              <a:t>classification</a:t>
            </a:r>
          </a:p>
        </p:txBody>
      </p:sp>
      <p:sp>
        <p:nvSpPr>
          <p:cNvPr id="6" name="q4-rule">
            <a:extLst>
              <a:ext uri="{FF2B5EF4-FFF2-40B4-BE49-F238E27FC236}">
                <a16:creationId xmlns:a16="http://schemas.microsoft.com/office/drawing/2014/main" id="{57EF9923-38BD-4728-A6F0-B6A5E344CA8B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990600" cy="47625"/>
          </a:xfrm>
          <a:prstGeom prst="rect">
            <a:avLst/>
          </a:prstGeom>
          <a:solidFill>
            <a:srgbClr val="1F51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excluded-label">
            <a:extLst>
              <a:ext uri="{FF2B5EF4-FFF2-40B4-BE49-F238E27FC236}">
                <a16:creationId xmlns:a16="http://schemas.microsoft.com/office/drawing/2014/main" id="{C1AD5E52-045B-4FC3-9C1B-12C5A6C614E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C6D62"/>
                </a:solidFill>
              </a:defRPr>
            </a:pPr>
            <a:r>
              <a:rPr sz="1125" b="1">
                <a:solidFill>
                  <a:srgbClr val="5C6D62"/>
                </a:solidFill>
              </a:rPr>
              <a:t>WHY NOT OTHER TECHNIQUES?</a:t>
            </a:r>
          </a:p>
        </p:txBody>
      </p:sp>
      <p:sp>
        <p:nvSpPr>
          <p:cNvPr id="8" name="excluded-note">
            <a:extLst>
              <a:ext uri="{FF2B5EF4-FFF2-40B4-BE49-F238E27FC236}">
                <a16:creationId xmlns:a16="http://schemas.microsoft.com/office/drawing/2014/main" id="{1F5E01BF-1CE4-492C-8E5F-240FAD5F487B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342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B342F"/>
                </a:solidFill>
              </a:defRPr>
            </a:pPr>
            <a:r>
              <a:rPr sz="1350">
                <a:solidFill>
                  <a:srgbClr val="2B342F"/>
                </a:solidFill>
              </a:rPr>
              <a:t>Labels were already known, so clustering was unnecessary.</a:t>
            </a:r>
          </a:p>
          <a:p>
            <a:pPr>
              <a:defRPr sz="1350">
                <a:solidFill>
                  <a:srgbClr val="2B342F"/>
                </a:solidFill>
              </a:defRPr>
            </a:pPr>
            <a:r>
              <a:rPr sz="1350">
                <a:solidFill>
                  <a:srgbClr val="2B342F"/>
                </a:solidFill>
              </a:rPr>
              <a:t>The goal was prediction—not Apriori association rules.</a:t>
            </a:r>
          </a:p>
        </p:txBody>
      </p:sp>
      <p:sp>
        <p:nvSpPr>
          <p:cNvPr id="9" name="models-panel">
            <a:extLst>
              <a:ext uri="{FF2B5EF4-FFF2-40B4-BE49-F238E27FC236}">
                <a16:creationId xmlns:a16="http://schemas.microsoft.com/office/drawing/2014/main" id="{0FBBBCF5-AE1B-460C-B421-998DE4386C83}"/>
              </a:ext>
            </a:extLst>
          </p:cNvPr>
          <p:cNvSpPr>
            <a:spLocks noGrp="1"/>
          </p:cNvSpPr>
          <p:nvPr/>
        </p:nvSpPr>
        <p:spPr>
          <a:xfrm>
            <a:off x="4476750" y="1676400"/>
            <a:ext cx="6762750" cy="43815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models-label">
            <a:extLst>
              <a:ext uri="{FF2B5EF4-FFF2-40B4-BE49-F238E27FC236}">
                <a16:creationId xmlns:a16="http://schemas.microsoft.com/office/drawing/2014/main" id="{0D29B156-9227-441C-B2E8-78714E88432E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F5138"/>
                </a:solidFill>
              </a:defRPr>
            </a:pPr>
            <a:r>
              <a:rPr sz="1350" b="1">
                <a:solidFill>
                  <a:srgbClr val="1F5138"/>
                </a:solidFill>
              </a:rPr>
              <a:t>MODEL ROLES</a:t>
            </a:r>
          </a:p>
        </p:txBody>
      </p:sp>
      <p:sp>
        <p:nvSpPr>
          <p:cNvPr id="11" name="model-1">
            <a:extLst>
              <a:ext uri="{FF2B5EF4-FFF2-40B4-BE49-F238E27FC236}">
                <a16:creationId xmlns:a16="http://schemas.microsoft.com/office/drawing/2014/main" id="{4655928F-F2A4-49BA-9579-9A9EDB6641F2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17231D"/>
                </a:solidFill>
              </a:defRPr>
            </a:pPr>
            <a:r>
              <a:rPr sz="2025" b="1">
                <a:solidFill>
                  <a:srgbClr val="17231D"/>
                </a:solidFill>
              </a:rPr>
              <a:t>Logistic Regression</a:t>
            </a:r>
          </a:p>
        </p:txBody>
      </p:sp>
      <p:sp>
        <p:nvSpPr>
          <p:cNvPr id="12" name="model-1-note">
            <a:extLst>
              <a:ext uri="{FF2B5EF4-FFF2-40B4-BE49-F238E27FC236}">
                <a16:creationId xmlns:a16="http://schemas.microsoft.com/office/drawing/2014/main" id="{2AA58246-E5D2-4417-BB36-84C862DECF55}"/>
              </a:ext>
            </a:extLst>
          </p:cNvPr>
          <p:cNvSpPr>
            <a:spLocks noGrp="1"/>
          </p:cNvSpPr>
          <p:nvPr/>
        </p:nvSpPr>
        <p:spPr>
          <a:xfrm>
            <a:off x="4857750" y="29527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57"/>
                </a:solidFill>
              </a:defRPr>
            </a:pPr>
            <a:r>
              <a:rPr sz="1275">
                <a:solidFill>
                  <a:srgbClr val="526057"/>
                </a:solidFill>
              </a:rPr>
              <a:t>Simple, interpretable baseline</a:t>
            </a:r>
          </a:p>
        </p:txBody>
      </p:sp>
      <p:sp>
        <p:nvSpPr>
          <p:cNvPr id="13" name="model-2">
            <a:extLst>
              <a:ext uri="{FF2B5EF4-FFF2-40B4-BE49-F238E27FC236}">
                <a16:creationId xmlns:a16="http://schemas.microsoft.com/office/drawing/2014/main" id="{6D89DCC5-CC3A-44FC-A8CF-9A698347BFC6}"/>
              </a:ext>
            </a:extLst>
          </p:cNvPr>
          <p:cNvSpPr>
            <a:spLocks noGrp="1"/>
          </p:cNvSpPr>
          <p:nvPr/>
        </p:nvSpPr>
        <p:spPr>
          <a:xfrm>
            <a:off x="4857750" y="3524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17231D"/>
                </a:solidFill>
              </a:defRPr>
            </a:pPr>
            <a:r>
              <a:rPr sz="2025" b="1">
                <a:solidFill>
                  <a:srgbClr val="17231D"/>
                </a:solidFill>
              </a:rPr>
              <a:t>Decision Tree</a:t>
            </a:r>
          </a:p>
        </p:txBody>
      </p:sp>
      <p:sp>
        <p:nvSpPr>
          <p:cNvPr id="14" name="model-2-note">
            <a:extLst>
              <a:ext uri="{FF2B5EF4-FFF2-40B4-BE49-F238E27FC236}">
                <a16:creationId xmlns:a16="http://schemas.microsoft.com/office/drawing/2014/main" id="{EEBD9C2B-66A7-4BEE-AA97-867760739AF2}"/>
              </a:ext>
            </a:extLst>
          </p:cNvPr>
          <p:cNvSpPr>
            <a:spLocks noGrp="1"/>
          </p:cNvSpPr>
          <p:nvPr/>
        </p:nvSpPr>
        <p:spPr>
          <a:xfrm>
            <a:off x="4857750" y="39052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57"/>
                </a:solidFill>
              </a:defRPr>
            </a:pPr>
            <a:r>
              <a:rPr sz="1275">
                <a:solidFill>
                  <a:srgbClr val="526057"/>
                </a:solidFill>
              </a:rPr>
              <a:t>Captures non-linear rules and feature interactions</a:t>
            </a:r>
          </a:p>
        </p:txBody>
      </p:sp>
      <p:sp>
        <p:nvSpPr>
          <p:cNvPr id="15" name="model-3">
            <a:extLst>
              <a:ext uri="{FF2B5EF4-FFF2-40B4-BE49-F238E27FC236}">
                <a16:creationId xmlns:a16="http://schemas.microsoft.com/office/drawing/2014/main" id="{81388313-8662-46AA-99CF-76EAA26577DA}"/>
              </a:ext>
            </a:extLst>
          </p:cNvPr>
          <p:cNvSpPr>
            <a:spLocks noGrp="1"/>
          </p:cNvSpPr>
          <p:nvPr/>
        </p:nvSpPr>
        <p:spPr>
          <a:xfrm>
            <a:off x="4857750" y="4476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17231D"/>
                </a:solidFill>
              </a:defRPr>
            </a:pPr>
            <a:r>
              <a:rPr sz="2025" b="1">
                <a:solidFill>
                  <a:srgbClr val="17231D"/>
                </a:solidFill>
              </a:rPr>
              <a:t>Random Forest</a:t>
            </a:r>
          </a:p>
        </p:txBody>
      </p:sp>
      <p:sp>
        <p:nvSpPr>
          <p:cNvPr id="16" name="model-3-note">
            <a:extLst>
              <a:ext uri="{FF2B5EF4-FFF2-40B4-BE49-F238E27FC236}">
                <a16:creationId xmlns:a16="http://schemas.microsoft.com/office/drawing/2014/main" id="{E36A92BF-C2D0-4535-A41A-CF455C929DB3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57"/>
                </a:solidFill>
              </a:defRPr>
            </a:pPr>
            <a:r>
              <a:rPr sz="1275">
                <a:solidFill>
                  <a:srgbClr val="526057"/>
                </a:solidFill>
              </a:rPr>
              <a:t>Improves stability and exposes feature importance</a:t>
            </a:r>
          </a:p>
        </p:txBody>
      </p:sp>
      <p:sp>
        <p:nvSpPr>
          <p:cNvPr id="17" name="fair-comparison">
            <a:extLst>
              <a:ext uri="{FF2B5EF4-FFF2-40B4-BE49-F238E27FC236}">
                <a16:creationId xmlns:a16="http://schemas.microsoft.com/office/drawing/2014/main" id="{189D9654-3A7C-421B-A502-743063F5C1E9}"/>
              </a:ext>
            </a:extLst>
          </p:cNvPr>
          <p:cNvSpPr>
            <a:spLocks noGrp="1"/>
          </p:cNvSpPr>
          <p:nvPr/>
        </p:nvSpPr>
        <p:spPr>
          <a:xfrm>
            <a:off x="4857750" y="544830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A7782E"/>
                </a:solidFill>
              </a:defRPr>
            </a:pPr>
            <a:r>
              <a:rPr sz="1275" b="1">
                <a:solidFill>
                  <a:srgbClr val="A7782E"/>
                </a:solidFill>
              </a:rPr>
              <a:t>All three models used the same engineered feature set for a fair technique comparison.</a:t>
            </a:r>
          </a:p>
        </p:txBody>
      </p:sp>
    </p:spTree>
    <p:extLst>
      <p:ext uri="{BB962C8B-B14F-4D97-AF65-F5344CB8AC3E}">
        <p14:creationId xmlns:p14="http://schemas.microsoft.com/office/powerpoint/2010/main" val="1179042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q5-kicker">
            <a:extLst>
              <a:ext uri="{FF2B5EF4-FFF2-40B4-BE49-F238E27FC236}">
                <a16:creationId xmlns:a16="http://schemas.microsoft.com/office/drawing/2014/main" id="{E977ED1F-5B03-43D1-83BF-C1CE62A30E5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A7782E"/>
                </a:solidFill>
              </a:defRPr>
            </a:pPr>
            <a:r>
              <a:rPr sz="1200" b="1">
                <a:solidFill>
                  <a:srgbClr val="A7782E"/>
                </a:solidFill>
              </a:rPr>
              <a:t>Q5  |  MODEL VALIDATION</a:t>
            </a:r>
          </a:p>
        </p:txBody>
      </p:sp>
      <p:sp>
        <p:nvSpPr>
          <p:cNvPr id="3" name="q5-title">
            <a:extLst>
              <a:ext uri="{FF2B5EF4-FFF2-40B4-BE49-F238E27FC236}">
                <a16:creationId xmlns:a16="http://schemas.microsoft.com/office/drawing/2014/main" id="{9C8125EB-D4B3-4B98-A799-FB2E62B247FE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231D"/>
                </a:solidFill>
              </a:defRPr>
            </a:pPr>
            <a:r>
              <a:rPr lang="zh-CN" altLang="zh-CN" sz="2850" b="1" dirty="0"/>
              <a:t>Three models were evaluated using chronological match data</a:t>
            </a:r>
            <a:endParaRPr sz="2850" b="1" dirty="0">
              <a:solidFill>
                <a:srgbClr val="17231D"/>
              </a:solidFill>
            </a:endParaRPr>
          </a:p>
        </p:txBody>
      </p:sp>
      <p:sp>
        <p:nvSpPr>
          <p:cNvPr id="4" name="selected-label">
            <a:extLst>
              <a:ext uri="{FF2B5EF4-FFF2-40B4-BE49-F238E27FC236}">
                <a16:creationId xmlns:a16="http://schemas.microsoft.com/office/drawing/2014/main" id="{002B2D04-A73B-4F39-818D-13E7BE8A1DA4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C6D62"/>
                </a:solidFill>
              </a:defRPr>
            </a:pPr>
            <a:r>
              <a:rPr sz="1125" b="1">
                <a:solidFill>
                  <a:srgbClr val="5C6D62"/>
                </a:solidFill>
              </a:rPr>
              <a:t>FINAL MODEL</a:t>
            </a:r>
          </a:p>
        </p:txBody>
      </p:sp>
      <p:sp>
        <p:nvSpPr>
          <p:cNvPr id="5" name="selected-model">
            <a:extLst>
              <a:ext uri="{FF2B5EF4-FFF2-40B4-BE49-F238E27FC236}">
                <a16:creationId xmlns:a16="http://schemas.microsoft.com/office/drawing/2014/main" id="{0F70BCE6-130B-463D-8C6F-7C75D81A9B75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F5138"/>
                </a:solidFill>
              </a:defRPr>
            </a:pPr>
            <a:r>
              <a:rPr sz="2850" b="1">
                <a:solidFill>
                  <a:srgbClr val="1F5138"/>
                </a:solidFill>
              </a:rPr>
              <a:t>Decision Tree</a:t>
            </a:r>
          </a:p>
        </p:txBody>
      </p:sp>
      <p:sp>
        <p:nvSpPr>
          <p:cNvPr id="6" name="q5-rule">
            <a:extLst>
              <a:ext uri="{FF2B5EF4-FFF2-40B4-BE49-F238E27FC236}">
                <a16:creationId xmlns:a16="http://schemas.microsoft.com/office/drawing/2014/main" id="{6119FEB6-E0E2-462C-82E1-7AA718142FEF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990600" cy="47625"/>
          </a:xfrm>
          <a:prstGeom prst="rect">
            <a:avLst/>
          </a:prstGeom>
          <a:solidFill>
            <a:srgbClr val="1F51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macro-f1-value">
            <a:extLst>
              <a:ext uri="{FF2B5EF4-FFF2-40B4-BE49-F238E27FC236}">
                <a16:creationId xmlns:a16="http://schemas.microsoft.com/office/drawing/2014/main" id="{B1E1BE89-6636-474A-A27C-8E460B0606D4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1F5138"/>
                </a:solidFill>
              </a:defRPr>
            </a:pPr>
            <a:r>
              <a:rPr sz="3900" b="1">
                <a:solidFill>
                  <a:srgbClr val="1F5138"/>
                </a:solidFill>
              </a:rPr>
              <a:t>0.3903</a:t>
            </a:r>
          </a:p>
        </p:txBody>
      </p:sp>
      <p:sp>
        <p:nvSpPr>
          <p:cNvPr id="8" name="macro-f1-label">
            <a:extLst>
              <a:ext uri="{FF2B5EF4-FFF2-40B4-BE49-F238E27FC236}">
                <a16:creationId xmlns:a16="http://schemas.microsoft.com/office/drawing/2014/main" id="{5C679FB7-D963-4B78-962C-3D78F464A0A4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3D4841"/>
                </a:solidFill>
              </a:defRPr>
            </a:pPr>
            <a:r>
              <a:rPr sz="1350">
                <a:solidFill>
                  <a:srgbClr val="3D4841"/>
                </a:solidFill>
              </a:rPr>
              <a:t>World Cup macro F1</a:t>
            </a:r>
          </a:p>
          <a:p>
            <a:pPr>
              <a:defRPr sz="1350">
                <a:solidFill>
                  <a:srgbClr val="3D4841"/>
                </a:solidFill>
              </a:defRPr>
            </a:pPr>
            <a:r>
              <a:rPr sz="1350">
                <a:solidFill>
                  <a:srgbClr val="3D4841"/>
                </a:solidFill>
              </a:rPr>
              <a:t>highest of the three models</a:t>
            </a:r>
          </a:p>
        </p:txBody>
      </p:sp>
      <p:sp>
        <p:nvSpPr>
          <p:cNvPr id="9" name="draw-value">
            <a:extLst>
              <a:ext uri="{FF2B5EF4-FFF2-40B4-BE49-F238E27FC236}">
                <a16:creationId xmlns:a16="http://schemas.microsoft.com/office/drawing/2014/main" id="{6C777DCD-651B-4510-9CBA-108D1C56DE3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A7782E"/>
                </a:solidFill>
              </a:defRPr>
            </a:pPr>
            <a:r>
              <a:rPr sz="1725" b="1">
                <a:solidFill>
                  <a:srgbClr val="A7782E"/>
                </a:solidFill>
              </a:rPr>
              <a:t>Draw F1  0.2133</a:t>
            </a:r>
          </a:p>
        </p:txBody>
      </p:sp>
      <p:sp>
        <p:nvSpPr>
          <p:cNvPr id="10" name="draw-note">
            <a:extLst>
              <a:ext uri="{FF2B5EF4-FFF2-40B4-BE49-F238E27FC236}">
                <a16:creationId xmlns:a16="http://schemas.microsoft.com/office/drawing/2014/main" id="{3912AD1A-FF02-4685-9B84-A079EA064CDC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3D4841"/>
                </a:solidFill>
              </a:defRPr>
            </a:pPr>
            <a:r>
              <a:rPr sz="1275">
                <a:solidFill>
                  <a:srgbClr val="3D4841"/>
                </a:solidFill>
              </a:rPr>
              <a:t>The only model that meaningfully</a:t>
            </a:r>
          </a:p>
          <a:p>
            <a:pPr>
              <a:defRPr sz="1275">
                <a:solidFill>
                  <a:srgbClr val="3D4841"/>
                </a:solidFill>
              </a:defRPr>
            </a:pPr>
            <a:r>
              <a:rPr sz="1275">
                <a:solidFill>
                  <a:srgbClr val="3D4841"/>
                </a:solidFill>
              </a:rPr>
              <a:t>recognized World Cup draws.</a:t>
            </a:r>
          </a:p>
        </p:txBody>
      </p:sp>
      <p:sp>
        <p:nvSpPr>
          <p:cNvPr id="11" name="chart-frame">
            <a:extLst>
              <a:ext uri="{FF2B5EF4-FFF2-40B4-BE49-F238E27FC236}">
                <a16:creationId xmlns:a16="http://schemas.microsoft.com/office/drawing/2014/main" id="{9CBFB92C-651D-4F8B-9915-7B901AA0FE7C}"/>
              </a:ext>
            </a:extLst>
          </p:cNvPr>
          <p:cNvSpPr>
            <a:spLocks noGrp="1"/>
          </p:cNvSpPr>
          <p:nvPr/>
        </p:nvSpPr>
        <p:spPr>
          <a:xfrm>
            <a:off x="4000500" y="1676400"/>
            <a:ext cx="7239000" cy="35623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6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08638" y="1809750"/>
            <a:ext cx="5822725" cy="3295650"/>
          </a:xfrm>
          <a:prstGeom prst="rect">
            <a:avLst/>
          </a:prstGeom>
        </p:spPr>
      </p:pic>
      <p:sp>
        <p:nvSpPr>
          <p:cNvPr id="13" name="comparison-note-bg">
            <a:extLst>
              <a:ext uri="{FF2B5EF4-FFF2-40B4-BE49-F238E27FC236}">
                <a16:creationId xmlns:a16="http://schemas.microsoft.com/office/drawing/2014/main" id="{B4983BC9-A125-448F-9759-B6F5A9D0BB7B}"/>
              </a:ext>
            </a:extLst>
          </p:cNvPr>
          <p:cNvSpPr>
            <a:spLocks noGrp="1"/>
          </p:cNvSpPr>
          <p:nvPr/>
        </p:nvSpPr>
        <p:spPr>
          <a:xfrm>
            <a:off x="4000500" y="5505450"/>
            <a:ext cx="7239000" cy="514350"/>
          </a:xfrm>
          <a:prstGeom prst="rect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comparison-note">
            <a:extLst>
              <a:ext uri="{FF2B5EF4-FFF2-40B4-BE49-F238E27FC236}">
                <a16:creationId xmlns:a16="http://schemas.microsoft.com/office/drawing/2014/main" id="{A870EF57-6790-4E3C-8825-885696F85060}"/>
              </a:ext>
            </a:extLst>
          </p:cNvPr>
          <p:cNvSpPr>
            <a:spLocks noGrp="1"/>
          </p:cNvSpPr>
          <p:nvPr/>
        </p:nvSpPr>
        <p:spPr>
          <a:xfrm>
            <a:off x="4118088" y="5562600"/>
            <a:ext cx="6934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D4841"/>
                </a:solidFill>
              </a:defRPr>
            </a:pPr>
            <a:r>
              <a:rPr lang="zh-CN" altLang="zh-CN" sz="1200" dirty="0"/>
              <a:t>Decision Tree was selected because it achieved the highest World Cup macro F1-score and was the only model to identify draws.</a:t>
            </a:r>
            <a:endParaRPr sz="1200" dirty="0">
              <a:solidFill>
                <a:srgbClr val="3D4841"/>
              </a:solidFill>
            </a:endParaRPr>
          </a:p>
        </p:txBody>
      </p:sp>
      <p:sp>
        <p:nvSpPr>
          <p:cNvPr id="16" name="validation-note">
            <a:extLst>
              <a:ext uri="{FF2B5EF4-FFF2-40B4-BE49-F238E27FC236}">
                <a16:creationId xmlns:a16="http://schemas.microsoft.com/office/drawing/2014/main" id="{C80BA49E-D887-476F-A675-1090C8D077BA}"/>
              </a:ext>
            </a:extLst>
          </p:cNvPr>
          <p:cNvSpPr>
            <a:spLocks noGrp="1"/>
          </p:cNvSpPr>
          <p:nvPr/>
        </p:nvSpPr>
        <p:spPr>
          <a:xfrm>
            <a:off x="4152900" y="6019800"/>
            <a:ext cx="6934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D4841"/>
                </a:solidFill>
              </a:defRPr>
            </a:pPr>
            <a:endParaRPr sz="1200" dirty="0">
              <a:solidFill>
                <a:srgbClr val="3D48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39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13188" y="0"/>
            <a:ext cx="12192000" cy="6858000"/>
          </a:xfrm>
          <a:prstGeom prst="rect">
            <a:avLst/>
          </a:prstGeom>
        </p:spPr>
      </p:pic>
      <p:sp>
        <p:nvSpPr>
          <p:cNvPr id="2" name="q6-kicker">
            <a:extLst>
              <a:ext uri="{FF2B5EF4-FFF2-40B4-BE49-F238E27FC236}">
                <a16:creationId xmlns:a16="http://schemas.microsoft.com/office/drawing/2014/main" id="{549BD474-B3A0-416F-92C4-E92FE15E59C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A7782E"/>
                </a:solidFill>
              </a:defRPr>
            </a:pPr>
            <a:r>
              <a:rPr sz="1200" b="1">
                <a:solidFill>
                  <a:srgbClr val="A7782E"/>
                </a:solidFill>
              </a:rPr>
              <a:t>Q6  |  CONCLUSION &amp; FUTURE IMPROVEMENTS</a:t>
            </a:r>
          </a:p>
        </p:txBody>
      </p:sp>
      <p:sp>
        <p:nvSpPr>
          <p:cNvPr id="3" name="q6-title">
            <a:extLst>
              <a:ext uri="{FF2B5EF4-FFF2-40B4-BE49-F238E27FC236}">
                <a16:creationId xmlns:a16="http://schemas.microsoft.com/office/drawing/2014/main" id="{E06F4693-60F4-4C7B-8FA2-0F9533B65677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231D"/>
                </a:solidFill>
              </a:defRPr>
            </a:pPr>
            <a:r>
              <a:rPr sz="2625" b="1" dirty="0">
                <a:solidFill>
                  <a:srgbClr val="17231D"/>
                </a:solidFill>
              </a:rPr>
              <a:t>Historical data helps</a:t>
            </a:r>
            <a:r>
              <a:rPr lang="en-US" sz="2625" b="1" dirty="0">
                <a:solidFill>
                  <a:srgbClr val="17231D"/>
                </a:solidFill>
              </a:rPr>
              <a:t>, </a:t>
            </a:r>
            <a:r>
              <a:rPr sz="2625" b="1" dirty="0">
                <a:solidFill>
                  <a:srgbClr val="17231D"/>
                </a:solidFill>
              </a:rPr>
              <a:t>but football remains </a:t>
            </a:r>
            <a:r>
              <a:rPr lang="en-US" sz="2625" b="1" dirty="0">
                <a:solidFill>
                  <a:srgbClr val="17231D"/>
                </a:solidFill>
              </a:rPr>
              <a:t>hard</a:t>
            </a:r>
            <a:r>
              <a:rPr sz="2625" b="1" dirty="0">
                <a:solidFill>
                  <a:srgbClr val="17231D"/>
                </a:solidFill>
              </a:rPr>
              <a:t> to predict</a:t>
            </a:r>
          </a:p>
        </p:txBody>
      </p:sp>
      <p:sp>
        <p:nvSpPr>
          <p:cNvPr id="4" name="conclusion-label">
            <a:extLst>
              <a:ext uri="{FF2B5EF4-FFF2-40B4-BE49-F238E27FC236}">
                <a16:creationId xmlns:a16="http://schemas.microsoft.com/office/drawing/2014/main" id="{BBB62CCE-B0C1-4895-B617-0C246BCB02D2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C6D62"/>
                </a:solidFill>
              </a:defRPr>
            </a:pPr>
            <a:r>
              <a:rPr sz="1125" b="1">
                <a:solidFill>
                  <a:srgbClr val="5C6D62"/>
                </a:solidFill>
              </a:rPr>
              <a:t>KEY CONCLUSION</a:t>
            </a:r>
          </a:p>
        </p:txBody>
      </p:sp>
      <p:sp>
        <p:nvSpPr>
          <p:cNvPr id="5" name="conclusion-main">
            <a:extLst>
              <a:ext uri="{FF2B5EF4-FFF2-40B4-BE49-F238E27FC236}">
                <a16:creationId xmlns:a16="http://schemas.microsoft.com/office/drawing/2014/main" id="{08E4155B-E907-49DD-82BB-640393A2F0C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6572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F5138"/>
                </a:solidFill>
              </a:defRPr>
            </a:pPr>
            <a:r>
              <a:rPr sz="2400" b="1">
                <a:solidFill>
                  <a:srgbClr val="1F5138"/>
                </a:solidFill>
              </a:rPr>
              <a:t>Decision Tree offers the most balanced performance—not the highest accuracy.</a:t>
            </a:r>
          </a:p>
        </p:txBody>
      </p:sp>
      <p:sp>
        <p:nvSpPr>
          <p:cNvPr id="6" name="q6-rule">
            <a:extLst>
              <a:ext uri="{FF2B5EF4-FFF2-40B4-BE49-F238E27FC236}">
                <a16:creationId xmlns:a16="http://schemas.microsoft.com/office/drawing/2014/main" id="{F9BF91E4-6EED-4A4F-90F5-60E117DE83DB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990600" cy="47625"/>
          </a:xfrm>
          <a:prstGeom prst="rect">
            <a:avLst/>
          </a:prstGeom>
          <a:solidFill>
            <a:srgbClr val="1F51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conclusion-points">
            <a:extLst>
              <a:ext uri="{FF2B5EF4-FFF2-40B4-BE49-F238E27FC236}">
                <a16:creationId xmlns:a16="http://schemas.microsoft.com/office/drawing/2014/main" id="{D71A01BF-BEBF-4AE1-8E9E-94453CB6910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647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B342F"/>
                </a:solidFill>
              </a:defRPr>
            </a:pPr>
            <a:r>
              <a:rPr sz="1500">
                <a:solidFill>
                  <a:srgbClr val="2B342F"/>
                </a:solidFill>
              </a:rPr>
              <a:t>Historical form and team comparisons provide useful signals.</a:t>
            </a:r>
          </a:p>
          <a:p>
            <a:pPr>
              <a:defRPr sz="1500">
                <a:solidFill>
                  <a:srgbClr val="2B342F"/>
                </a:solidFill>
              </a:defRPr>
            </a:pPr>
            <a:r>
              <a:rPr sz="1500">
                <a:solidFill>
                  <a:srgbClr val="2B342F"/>
                </a:solidFill>
              </a:rPr>
              <a:t>Draw remains the hardest outcome to classify.</a:t>
            </a:r>
          </a:p>
          <a:p>
            <a:pPr>
              <a:defRPr sz="1500">
                <a:solidFill>
                  <a:srgbClr val="2B342F"/>
                </a:solidFill>
              </a:defRPr>
            </a:pPr>
            <a:r>
              <a:rPr sz="1500">
                <a:solidFill>
                  <a:srgbClr val="2B342F"/>
                </a:solidFill>
              </a:rPr>
              <a:t>Tactics, injuries and match pressure limit predictability.</a:t>
            </a:r>
          </a:p>
          <a:p>
            <a:pPr>
              <a:defRPr sz="1500">
                <a:solidFill>
                  <a:srgbClr val="2B342F"/>
                </a:solidFill>
              </a:defRPr>
            </a:pPr>
            <a:r>
              <a:rPr sz="1500">
                <a:solidFill>
                  <a:srgbClr val="2B342F"/>
                </a:solidFill>
              </a:rPr>
              <a:t>Current features cannot fully capture real-time match conditions.</a:t>
            </a:r>
          </a:p>
        </p:txBody>
      </p:sp>
      <p:sp>
        <p:nvSpPr>
          <p:cNvPr id="8" name="q6-focus">
            <a:extLst>
              <a:ext uri="{FF2B5EF4-FFF2-40B4-BE49-F238E27FC236}">
                <a16:creationId xmlns:a16="http://schemas.microsoft.com/office/drawing/2014/main" id="{CB9A3B08-46B2-4D12-B667-DF6BD0F2522E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A7782E"/>
                </a:solidFill>
              </a:defRPr>
            </a:pPr>
            <a:r>
              <a:rPr sz="1500" b="1">
                <a:solidFill>
                  <a:srgbClr val="A7782E"/>
                </a:solidFill>
              </a:rPr>
              <a:t>Priority: improve Draw recognition without sacrificing class balance.</a:t>
            </a:r>
          </a:p>
        </p:txBody>
      </p:sp>
      <p:sp>
        <p:nvSpPr>
          <p:cNvPr id="9" name="improvements-panel">
            <a:extLst>
              <a:ext uri="{FF2B5EF4-FFF2-40B4-BE49-F238E27FC236}">
                <a16:creationId xmlns:a16="http://schemas.microsoft.com/office/drawing/2014/main" id="{36B38214-06B2-4706-BECF-41A0BDAC2B4D}"/>
              </a:ext>
            </a:extLst>
          </p:cNvPr>
          <p:cNvSpPr>
            <a:spLocks noGrp="1"/>
          </p:cNvSpPr>
          <p:nvPr/>
        </p:nvSpPr>
        <p:spPr>
          <a:xfrm>
            <a:off x="7715250" y="1676400"/>
            <a:ext cx="3524250" cy="44005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improvements-title">
            <a:extLst>
              <a:ext uri="{FF2B5EF4-FFF2-40B4-BE49-F238E27FC236}">
                <a16:creationId xmlns:a16="http://schemas.microsoft.com/office/drawing/2014/main" id="{E639F1AC-0BE9-4333-A942-E60238B29A04}"/>
              </a:ext>
            </a:extLst>
          </p:cNvPr>
          <p:cNvSpPr>
            <a:spLocks noGrp="1"/>
          </p:cNvSpPr>
          <p:nvPr/>
        </p:nvSpPr>
        <p:spPr>
          <a:xfrm>
            <a:off x="8020050" y="2000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F5138"/>
                </a:solidFill>
              </a:defRPr>
            </a:pPr>
            <a:r>
              <a:rPr sz="1350" b="1">
                <a:solidFill>
                  <a:srgbClr val="1F5138"/>
                </a:solidFill>
              </a:rPr>
              <a:t>NEXT IMPROVEMENTS</a:t>
            </a:r>
          </a:p>
        </p:txBody>
      </p:sp>
      <p:sp>
        <p:nvSpPr>
          <p:cNvPr id="11" name="improvement-1">
            <a:extLst>
              <a:ext uri="{FF2B5EF4-FFF2-40B4-BE49-F238E27FC236}">
                <a16:creationId xmlns:a16="http://schemas.microsoft.com/office/drawing/2014/main" id="{3B2DFD38-3AB0-4357-A19E-C69DCB4AF275}"/>
              </a:ext>
            </a:extLst>
          </p:cNvPr>
          <p:cNvSpPr>
            <a:spLocks noGrp="1"/>
          </p:cNvSpPr>
          <p:nvPr/>
        </p:nvSpPr>
        <p:spPr>
          <a:xfrm>
            <a:off x="8020050" y="25336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31D"/>
                </a:solidFill>
              </a:defRPr>
            </a:pPr>
            <a:r>
              <a:rPr sz="1575" b="1">
                <a:solidFill>
                  <a:srgbClr val="17231D"/>
                </a:solidFill>
              </a:rPr>
              <a:t>01  Richer context</a:t>
            </a:r>
          </a:p>
        </p:txBody>
      </p:sp>
      <p:sp>
        <p:nvSpPr>
          <p:cNvPr id="12" name="improvement-1-note">
            <a:extLst>
              <a:ext uri="{FF2B5EF4-FFF2-40B4-BE49-F238E27FC236}">
                <a16:creationId xmlns:a16="http://schemas.microsoft.com/office/drawing/2014/main" id="{587AE4D3-5DB0-410B-9FCE-037E74648170}"/>
              </a:ext>
            </a:extLst>
          </p:cNvPr>
          <p:cNvSpPr>
            <a:spLocks noGrp="1"/>
          </p:cNvSpPr>
          <p:nvPr/>
        </p:nvSpPr>
        <p:spPr>
          <a:xfrm>
            <a:off x="8401050" y="285750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57"/>
                </a:solidFill>
              </a:defRPr>
            </a:pPr>
            <a:r>
              <a:rPr sz="1200">
                <a:solidFill>
                  <a:srgbClr val="526057"/>
                </a:solidFill>
              </a:rPr>
              <a:t>Rankings, injuries, line-ups and betting odds</a:t>
            </a:r>
          </a:p>
        </p:txBody>
      </p:sp>
      <p:sp>
        <p:nvSpPr>
          <p:cNvPr id="13" name="improvement-2">
            <a:extLst>
              <a:ext uri="{FF2B5EF4-FFF2-40B4-BE49-F238E27FC236}">
                <a16:creationId xmlns:a16="http://schemas.microsoft.com/office/drawing/2014/main" id="{D8FCE34B-B309-40E5-8774-4C918FD7CC22}"/>
              </a:ext>
            </a:extLst>
          </p:cNvPr>
          <p:cNvSpPr>
            <a:spLocks noGrp="1"/>
          </p:cNvSpPr>
          <p:nvPr/>
        </p:nvSpPr>
        <p:spPr>
          <a:xfrm>
            <a:off x="8020050" y="3448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31D"/>
                </a:solidFill>
              </a:defRPr>
            </a:pPr>
            <a:r>
              <a:rPr sz="1575" b="1">
                <a:solidFill>
                  <a:srgbClr val="17231D"/>
                </a:solidFill>
              </a:rPr>
              <a:t>02  Better optimization</a:t>
            </a:r>
          </a:p>
        </p:txBody>
      </p:sp>
      <p:sp>
        <p:nvSpPr>
          <p:cNvPr id="14" name="improvement-2-note">
            <a:extLst>
              <a:ext uri="{FF2B5EF4-FFF2-40B4-BE49-F238E27FC236}">
                <a16:creationId xmlns:a16="http://schemas.microsoft.com/office/drawing/2014/main" id="{54454AC9-628D-45BF-878C-3BB9CD6749A8}"/>
              </a:ext>
            </a:extLst>
          </p:cNvPr>
          <p:cNvSpPr>
            <a:spLocks noGrp="1"/>
          </p:cNvSpPr>
          <p:nvPr/>
        </p:nvSpPr>
        <p:spPr>
          <a:xfrm>
            <a:off x="8401050" y="37719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57"/>
                </a:solidFill>
              </a:defRPr>
            </a:pPr>
            <a:r>
              <a:rPr sz="1200">
                <a:solidFill>
                  <a:srgbClr val="526057"/>
                </a:solidFill>
              </a:rPr>
              <a:t>Grid search or random search</a:t>
            </a:r>
          </a:p>
        </p:txBody>
      </p:sp>
      <p:sp>
        <p:nvSpPr>
          <p:cNvPr id="15" name="improvement-3">
            <a:extLst>
              <a:ext uri="{FF2B5EF4-FFF2-40B4-BE49-F238E27FC236}">
                <a16:creationId xmlns:a16="http://schemas.microsoft.com/office/drawing/2014/main" id="{E3A2E454-7461-4BA3-A9FE-9A5713BCD540}"/>
              </a:ext>
            </a:extLst>
          </p:cNvPr>
          <p:cNvSpPr>
            <a:spLocks noGrp="1"/>
          </p:cNvSpPr>
          <p:nvPr/>
        </p:nvSpPr>
        <p:spPr>
          <a:xfrm>
            <a:off x="8020050" y="42481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31D"/>
                </a:solidFill>
              </a:defRPr>
            </a:pPr>
            <a:r>
              <a:rPr sz="1575" b="1">
                <a:solidFill>
                  <a:srgbClr val="17231D"/>
                </a:solidFill>
              </a:rPr>
              <a:t>03  Stronger models</a:t>
            </a:r>
          </a:p>
        </p:txBody>
      </p:sp>
      <p:sp>
        <p:nvSpPr>
          <p:cNvPr id="16" name="improvement-3-note">
            <a:extLst>
              <a:ext uri="{FF2B5EF4-FFF2-40B4-BE49-F238E27FC236}">
                <a16:creationId xmlns:a16="http://schemas.microsoft.com/office/drawing/2014/main" id="{0F0F9EAA-5742-451D-8770-A81D65FCDD6A}"/>
              </a:ext>
            </a:extLst>
          </p:cNvPr>
          <p:cNvSpPr>
            <a:spLocks noGrp="1"/>
          </p:cNvSpPr>
          <p:nvPr/>
        </p:nvSpPr>
        <p:spPr>
          <a:xfrm>
            <a:off x="8401050" y="457200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57"/>
                </a:solidFill>
              </a:defRPr>
            </a:pPr>
            <a:r>
              <a:rPr sz="1200">
                <a:solidFill>
                  <a:srgbClr val="526057"/>
                </a:solidFill>
              </a:rPr>
              <a:t>Boosting, XGBoost and ensemble stacking</a:t>
            </a:r>
          </a:p>
        </p:txBody>
      </p:sp>
      <p:sp>
        <p:nvSpPr>
          <p:cNvPr id="17" name="improvement-4">
            <a:extLst>
              <a:ext uri="{FF2B5EF4-FFF2-40B4-BE49-F238E27FC236}">
                <a16:creationId xmlns:a16="http://schemas.microsoft.com/office/drawing/2014/main" id="{C92014AC-410C-470F-9885-0E2AF04CB89D}"/>
              </a:ext>
            </a:extLst>
          </p:cNvPr>
          <p:cNvSpPr>
            <a:spLocks noGrp="1"/>
          </p:cNvSpPr>
          <p:nvPr/>
        </p:nvSpPr>
        <p:spPr>
          <a:xfrm>
            <a:off x="8020050" y="51625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31D"/>
                </a:solidFill>
              </a:defRPr>
            </a:pPr>
            <a:r>
              <a:rPr sz="1575" b="1" dirty="0">
                <a:solidFill>
                  <a:srgbClr val="17231D"/>
                </a:solidFill>
              </a:rPr>
              <a:t>04  </a:t>
            </a:r>
            <a:r>
              <a:rPr lang="zh-CN" altLang="zh-CN" sz="1575" b="1" dirty="0"/>
              <a:t>Class balance &amp;</a:t>
            </a:r>
            <a:r>
              <a:rPr lang="en-US" altLang="zh-CN" sz="1575" b="1" dirty="0"/>
              <a:t> </a:t>
            </a:r>
            <a:r>
              <a:rPr lang="zh-CN" altLang="zh-CN" sz="1575" b="1" dirty="0"/>
              <a:t>validation</a:t>
            </a:r>
            <a:endParaRPr sz="1575" b="1" dirty="0">
              <a:solidFill>
                <a:srgbClr val="17231D"/>
              </a:solidFill>
            </a:endParaRPr>
          </a:p>
        </p:txBody>
      </p:sp>
      <p:sp>
        <p:nvSpPr>
          <p:cNvPr id="18" name="improvement-4-note">
            <a:extLst>
              <a:ext uri="{FF2B5EF4-FFF2-40B4-BE49-F238E27FC236}">
                <a16:creationId xmlns:a16="http://schemas.microsoft.com/office/drawing/2014/main" id="{2F3ED528-3151-4506-882B-787FB7555924}"/>
              </a:ext>
            </a:extLst>
          </p:cNvPr>
          <p:cNvSpPr>
            <a:spLocks noGrp="1"/>
          </p:cNvSpPr>
          <p:nvPr/>
        </p:nvSpPr>
        <p:spPr>
          <a:xfrm>
            <a:off x="8401050" y="54673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57"/>
                </a:solidFill>
              </a:defRPr>
            </a:pPr>
            <a:r>
              <a:rPr sz="1200">
                <a:solidFill>
                  <a:srgbClr val="526057"/>
                </a:solidFill>
              </a:rPr>
              <a:t>Handle class imbalance and apply rolling-window validation.</a:t>
            </a:r>
          </a:p>
        </p:txBody>
      </p:sp>
    </p:spTree>
    <p:extLst>
      <p:ext uri="{BB962C8B-B14F-4D97-AF65-F5344CB8AC3E}">
        <p14:creationId xmlns:p14="http://schemas.microsoft.com/office/powerpoint/2010/main" val="907246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574</Words>
  <Application>Microsoft Macintosh PowerPoint</Application>
  <PresentationFormat>宽屏</PresentationFormat>
  <Paragraphs>104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 YIFAN</dc:creator>
  <cp:lastModifiedBy>LIU YIFAN</cp:lastModifiedBy>
  <cp:revision>9</cp:revision>
  <dcterms:created xsi:type="dcterms:W3CDTF">2026-07-14T06:37:44Z</dcterms:created>
  <dcterms:modified xsi:type="dcterms:W3CDTF">2026-07-14T08:42:02Z</dcterms:modified>
</cp:coreProperties>
</file>